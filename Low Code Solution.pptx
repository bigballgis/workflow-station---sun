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4"/>
    <p:sldMasterId id="214748366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Lst>
  <p:sldSz cy="5143500" cx="9144000"/>
  <p:notesSz cx="6858000" cy="9144000"/>
  <p:embeddedFontLst>
    <p:embeddedFont>
      <p:font typeface="Roboto"/>
      <p:regular r:id="rId17"/>
      <p:bold r:id="rId18"/>
      <p:italic r:id="rId19"/>
      <p:boldItalic r:id="rId20"/>
    </p:embeddedFont>
    <p:embeddedFont>
      <p:font typeface="Poppins"/>
      <p:regular r:id="rId21"/>
      <p:bold r:id="rId22"/>
      <p:italic r:id="rId23"/>
      <p:boldItalic r:id="rId24"/>
    </p:embeddedFont>
    <p:embeddedFont>
      <p:font typeface="Noto Sans SC"/>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boldItalic.fntdata"/><Relationship Id="rId22" Type="http://schemas.openxmlformats.org/officeDocument/2006/relationships/font" Target="fonts/Poppins-bold.fntdata"/><Relationship Id="rId21" Type="http://schemas.openxmlformats.org/officeDocument/2006/relationships/font" Target="fonts/Poppins-regular.fntdata"/><Relationship Id="rId24" Type="http://schemas.openxmlformats.org/officeDocument/2006/relationships/font" Target="fonts/Poppins-boldItalic.fntdata"/><Relationship Id="rId23" Type="http://schemas.openxmlformats.org/officeDocument/2006/relationships/font" Target="fonts/Poppins-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font" Target="fonts/NotoSansSC-bold.fntdata"/><Relationship Id="rId25" Type="http://schemas.openxmlformats.org/officeDocument/2006/relationships/font" Target="fonts/NotoSansSC-regular.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font" Target="fonts/Roboto-regular.fntdata"/><Relationship Id="rId16" Type="http://schemas.openxmlformats.org/officeDocument/2006/relationships/slide" Target="slides/slide10.xml"/><Relationship Id="rId19" Type="http://schemas.openxmlformats.org/officeDocument/2006/relationships/font" Target="fonts/Roboto-italic.fntdata"/><Relationship Id="rId18" Type="http://schemas.openxmlformats.org/officeDocument/2006/relationships/font" Target="fonts/Roboto-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g3caccc18a94_2_2: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54" name="Google Shape;54;g3caccc18a94_2_2: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55" name="Google Shape;55;g3caccc18a94_2_2: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g3caccc18a94_2_2: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Good morning everyone. Today, I'm here to introduce our next-generation low-code solution, designed for openness, flexibility, and long-term business sustainability.</a:t>
            </a:r>
            <a:endParaRPr/>
          </a:p>
        </p:txBody>
      </p:sp>
      <p:sp>
        <p:nvSpPr>
          <p:cNvPr id="57" name="Google Shape;57;g3caccc18a94_2_2: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58" name="Google Shape;58;g3caccc18a94_2_2: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caccc18a94_2_21: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73" name="Google Shape;73;g3caccc18a94_2_21: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74" name="Google Shape;74;g3caccc18a94_2_21: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g3caccc18a94_2_21: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Let's quickly go through the agenda. We'll start by looking at the challenges with current low-code platforms, then move to our vision for a better solution, dive into its core capabilities, highlight what makes it truly "next-gen," and conclude with its long-term value.</a:t>
            </a:r>
            <a:endParaRPr/>
          </a:p>
        </p:txBody>
      </p:sp>
      <p:sp>
        <p:nvSpPr>
          <p:cNvPr id="76" name="Google Shape;76;g3caccc18a94_2_21: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77" name="Google Shape;77;g3caccc18a94_2_21: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caccc18a94_2_44: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97" name="Google Shape;97;g3caccc18a94_2_44: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98" name="Google Shape;98;g3caccc18a94_2_44: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 name="Google Shape;99;g3caccc18a94_2_44: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Traditional low-code platforms like Microsoft Power Platform were great for speed, but they came with hidden costs: rising licensing fees, the risk of vendor lock-in, limited ability to extend the platform, and questions about their long-term scalability. This led us to ask: can we build something better?</a:t>
            </a:r>
            <a:endParaRPr/>
          </a:p>
        </p:txBody>
      </p:sp>
      <p:sp>
        <p:nvSpPr>
          <p:cNvPr id="100" name="Google Shape;100;g3caccc18a94_2_44: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101" name="Google Shape;101;g3caccc18a94_2_44: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caccc18a94_2_69: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123" name="Google Shape;123;g3caccc18a94_2_69: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124" name="Google Shape;124;g3caccc18a94_2_69: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g3caccc18a94_2_69: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Our solution is born from that question. Our vision is to build not just another automation tool, but a true digital process foundation. A platform where business teams can innovate rapidly, leadership has full visibility, and the enterprise maintains complete control. This is next-gen low-code, centered on control, scalability, and ownership.</a:t>
            </a:r>
            <a:endParaRPr/>
          </a:p>
        </p:txBody>
      </p:sp>
      <p:sp>
        <p:nvSpPr>
          <p:cNvPr id="126" name="Google Shape;126;g3caccc18a94_2_69: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127" name="Google Shape;127;g3caccc18a94_2_69: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caccc18a94_2_96: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151" name="Google Shape;151;g3caccc18a94_2_96: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152" name="Google Shape;152;g3caccc18a94_2_96: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 name="Google Shape;153;g3caccc18a94_2_96: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Our first core capability is Visual Process Intelligence. It addresses the common problem of "invisible" processes hidden in emails or spreadsheets. We make every process visible, measurable, and traceable, turning operational noise into valuable strategic assets for the business.</a:t>
            </a:r>
            <a:endParaRPr/>
          </a:p>
        </p:txBody>
      </p:sp>
      <p:sp>
        <p:nvSpPr>
          <p:cNvPr id="154" name="Google Shape;154;g3caccc18a94_2_96: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155" name="Google Shape;155;g3caccc18a94_2_96: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caccc18a94_2_117: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173" name="Google Shape;173;g3caccc18a94_2_117: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174" name="Google Shape;174;g3caccc18a94_2_117: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 name="Google Shape;175;g3caccc18a94_2_117: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Second is the Adaptive Form Experience. In a world of constant regulatory and product changes, waiting weeks for IT to update a form is a competitive disadvantage. Our platform lets business teams create and adjust forms themselves, turning weeks into days and making the organization far more responsive.</a:t>
            </a:r>
            <a:endParaRPr/>
          </a:p>
        </p:txBody>
      </p:sp>
      <p:sp>
        <p:nvSpPr>
          <p:cNvPr id="176" name="Google Shape;176;g3caccc18a94_2_117: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177" name="Google Shape;177;g3caccc18a94_2_117: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accc18a94_2_138: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195" name="Google Shape;195;g3caccc18a94_2_138: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196" name="Google Shape;196;g3caccc18a94_2_138: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 name="Google Shape;197;g3caccc18a94_2_138: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Third, and perhaps most critical, is our Open Data Foundation. Data is everything, yet it's often trapped in spreadsheets or vendor silos. Our solution provides structured, integrable data, and crucially, the data is yours. This ownership ensures long-term flexibility and strategic control that is impossible with traditional platforms.</a:t>
            </a:r>
            <a:endParaRPr/>
          </a:p>
        </p:txBody>
      </p:sp>
      <p:sp>
        <p:nvSpPr>
          <p:cNvPr id="198" name="Google Shape;198;g3caccc18a94_2_138: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199" name="Google Shape;199;g3caccc18a94_2_138: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accc18a94_2_159: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217" name="Google Shape;217;g3caccc18a94_2_159: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218" name="Google Shape;218;g3caccc18a94_2_159: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g3caccc18a94_2_159: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So, what truly makes it next-gen? The difference is fundamental. While traditional platforms focus on development speed, we focus on architectural openness and long-term sustainability. We replace license fees with an open stack, black-box automation with transparent processes, and vendor-owned data with data that you control.</a:t>
            </a:r>
            <a:endParaRPr/>
          </a:p>
        </p:txBody>
      </p:sp>
      <p:sp>
        <p:nvSpPr>
          <p:cNvPr id="220" name="Google Shape;220;g3caccc18a94_2_159: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221" name="Google Shape;221;g3caccc18a94_2_159: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accc18a94_2_191: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250" name="Google Shape;250;g3caccc18a94_2_191: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251" name="Google Shape;251;g3caccc18a94_2_191: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g3caccc18a94_2_191: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In conclusion, we are not just delivering another software solution. We are delivering a foundation—one that is built to scale with your business, sustain your long-term goals, and keep you in control of your digital future.</a:t>
            </a:r>
            <a:endParaRPr/>
          </a:p>
        </p:txBody>
      </p:sp>
      <p:sp>
        <p:nvSpPr>
          <p:cNvPr id="253" name="Google Shape;253;g3caccc18a94_2_191: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254" name="Google Shape;254;g3caccc18a94_2_191: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3caccc18a94_2_212: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272" name="Google Shape;272;g3caccc18a94_2_212: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1.7.2013</a:t>
            </a:r>
            <a:endParaRPr/>
          </a:p>
        </p:txBody>
      </p:sp>
      <p:sp>
        <p:nvSpPr>
          <p:cNvPr id="273" name="Google Shape;273;g3caccc18a94_2_212:notes"/>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g3caccc18a94_2_212:notes"/>
          <p:cNvSpPr txBox="1"/>
          <p:nvPr>
            <p:ph idx="1" type="body"/>
          </p:nvPr>
        </p:nvSpPr>
        <p:spPr>
          <a:xfrm>
            <a:off x="914400" y="3251200"/>
            <a:ext cx="7315200" cy="308133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0" i="0" lang="en" sz="1400" u="none" cap="none" strike="noStrike">
                <a:solidFill>
                  <a:srgbClr val="000000"/>
                </a:solidFill>
                <a:latin typeface="Arial"/>
                <a:ea typeface="Arial"/>
                <a:cs typeface="Arial"/>
                <a:sym typeface="Arial"/>
              </a:rPr>
              <a:t>Thank you very much for your time.</a:t>
            </a:r>
            <a:endParaRPr/>
          </a:p>
        </p:txBody>
      </p:sp>
      <p:sp>
        <p:nvSpPr>
          <p:cNvPr id="275" name="Google Shape;275;g3caccc18a94_2_212: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None/>
            </a:pPr>
            <a:r>
              <a:t/>
            </a:r>
            <a:endParaRPr sz="1200"/>
          </a:p>
        </p:txBody>
      </p:sp>
      <p:sp>
        <p:nvSpPr>
          <p:cNvPr id="276" name="Google Shape;276;g3caccc18a94_2_212: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None/>
            </a:pPr>
            <a:r>
              <a:rPr b="0" i="0" lang="en" sz="1200" u="none" cap="none" strike="noStrike">
                <a:solidFill>
                  <a:srgbClr val="000000"/>
                </a:solidFill>
                <a:latin typeface="Arial"/>
                <a:ea typeface="Arial"/>
                <a:cs typeface="Arial"/>
                <a:sym typeface="Arial"/>
              </a:rPr>
              <a:t>‹#›</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2.png"/><Relationship Id="rId4" Type="http://schemas.openxmlformats.org/officeDocument/2006/relationships/image" Target="../media/image37.png"/><Relationship Id="rId5"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32.png"/><Relationship Id="rId7"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3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38.png"/><Relationship Id="rId4" Type="http://schemas.openxmlformats.org/officeDocument/2006/relationships/image" Target="../media/image31.png"/><Relationship Id="rId11" Type="http://schemas.openxmlformats.org/officeDocument/2006/relationships/image" Target="../media/image10.png"/><Relationship Id="rId10" Type="http://schemas.openxmlformats.org/officeDocument/2006/relationships/image" Target="../media/image27.png"/><Relationship Id="rId12" Type="http://schemas.openxmlformats.org/officeDocument/2006/relationships/image" Target="../media/image36.png"/><Relationship Id="rId9" Type="http://schemas.openxmlformats.org/officeDocument/2006/relationships/image" Target="../media/image30.png"/><Relationship Id="rId5" Type="http://schemas.openxmlformats.org/officeDocument/2006/relationships/image" Target="../media/image33.png"/><Relationship Id="rId6" Type="http://schemas.openxmlformats.org/officeDocument/2006/relationships/image" Target="../media/image19.png"/><Relationship Id="rId7" Type="http://schemas.openxmlformats.org/officeDocument/2006/relationships/image" Target="../media/image25.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35.png"/><Relationship Id="rId4" Type="http://schemas.openxmlformats.org/officeDocument/2006/relationships/image" Target="../media/image14.png"/><Relationship Id="rId5"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59" name="Shape 59"/>
        <p:cNvGrpSpPr/>
        <p:nvPr/>
      </p:nvGrpSpPr>
      <p:grpSpPr>
        <a:xfrm>
          <a:off x="0" y="0"/>
          <a:ext cx="0" cy="0"/>
          <a:chOff x="0" y="0"/>
          <a:chExt cx="0" cy="0"/>
        </a:xfrm>
      </p:grpSpPr>
      <p:sp>
        <p:nvSpPr>
          <p:cNvPr id="60" name="Google Shape;60;p15"/>
          <p:cNvSpPr/>
          <p:nvPr/>
        </p:nvSpPr>
        <p:spPr>
          <a:xfrm>
            <a:off x="0" y="0"/>
            <a:ext cx="9144000" cy="5143500"/>
          </a:xfrm>
          <a:prstGeom prst="roundRect">
            <a:avLst>
              <a:gd fmla="val 0" name="adj"/>
            </a:avLst>
          </a:prstGeom>
          <a:solidFill>
            <a:srgbClr val="0A0A1A"/>
          </a:solidFill>
          <a:ln>
            <a:noFill/>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sp>
        <p:nvSpPr>
          <p:cNvPr id="61" name="Google Shape;61;p15"/>
          <p:cNvSpPr/>
          <p:nvPr/>
        </p:nvSpPr>
        <p:spPr>
          <a:xfrm>
            <a:off x="1714500" y="-1428750"/>
            <a:ext cx="5715000" cy="2857500"/>
          </a:xfrm>
          <a:prstGeom prst="ellipse">
            <a:avLst/>
          </a:prstGeom>
          <a:solidFill>
            <a:srgbClr val="00BFFF">
              <a:alpha val="14901"/>
            </a:srgbClr>
          </a:solidFill>
          <a:ln>
            <a:noFill/>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sp>
        <p:nvSpPr>
          <p:cNvPr id="62" name="Google Shape;62;p15"/>
          <p:cNvSpPr/>
          <p:nvPr/>
        </p:nvSpPr>
        <p:spPr>
          <a:xfrm>
            <a:off x="762000" y="1714500"/>
            <a:ext cx="7620000" cy="57150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None/>
            </a:pPr>
            <a:r>
              <a:rPr b="1" i="0" lang="en" sz="2700" u="none" cap="none" strike="noStrike">
                <a:solidFill>
                  <a:srgbClr val="00BFFF"/>
                </a:solidFill>
                <a:latin typeface="Noto Sans SC"/>
                <a:ea typeface="Noto Sans SC"/>
                <a:cs typeface="Noto Sans SC"/>
                <a:sym typeface="Noto Sans SC"/>
              </a:rPr>
              <a:t>Next-Gen Low-Code Solution</a:t>
            </a:r>
            <a:endParaRPr b="0" i="0" sz="800" u="none" cap="none" strike="noStrike">
              <a:solidFill>
                <a:srgbClr val="000000"/>
              </a:solidFill>
              <a:latin typeface="Arial"/>
              <a:ea typeface="Arial"/>
              <a:cs typeface="Arial"/>
              <a:sym typeface="Arial"/>
            </a:endParaRPr>
          </a:p>
        </p:txBody>
      </p:sp>
      <p:cxnSp>
        <p:nvCxnSpPr>
          <p:cNvPr id="63" name="Google Shape;63;p15"/>
          <p:cNvCxnSpPr/>
          <p:nvPr/>
        </p:nvCxnSpPr>
        <p:spPr>
          <a:xfrm rot="-34376">
            <a:off x="4095774" y="2424113"/>
            <a:ext cx="952500" cy="9525"/>
          </a:xfrm>
          <a:prstGeom prst="straightConnector1">
            <a:avLst/>
          </a:prstGeom>
          <a:solidFill>
            <a:srgbClr val="DEE0E3"/>
          </a:solidFill>
          <a:ln cap="flat" cmpd="sng" w="25400">
            <a:solidFill>
              <a:srgbClr val="FFD700"/>
            </a:solidFill>
            <a:prstDash val="solid"/>
            <a:round/>
            <a:headEnd len="sm" w="sm" type="none"/>
            <a:tailEnd len="sm" w="sm" type="none"/>
          </a:ln>
        </p:spPr>
      </p:cxnSp>
      <p:sp>
        <p:nvSpPr>
          <p:cNvPr id="64" name="Google Shape;64;p15"/>
          <p:cNvSpPr/>
          <p:nvPr/>
        </p:nvSpPr>
        <p:spPr>
          <a:xfrm>
            <a:off x="762000" y="2571750"/>
            <a:ext cx="7620000" cy="38100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None/>
            </a:pPr>
            <a:r>
              <a:rPr b="0" i="0" lang="en" sz="1400" u="none" cap="none" strike="noStrike">
                <a:solidFill>
                  <a:srgbClr val="FFFFFF"/>
                </a:solidFill>
                <a:latin typeface="Noto Sans SC"/>
                <a:ea typeface="Noto Sans SC"/>
                <a:cs typeface="Noto Sans SC"/>
                <a:sym typeface="Noto Sans SC"/>
              </a:rPr>
              <a:t>Building an Open, Flexible, and Sustainable Digital Future</a:t>
            </a:r>
            <a:endParaRPr b="0" i="0" sz="800" u="none" cap="none" strike="noStrike">
              <a:solidFill>
                <a:srgbClr val="000000"/>
              </a:solidFill>
              <a:latin typeface="Arial"/>
              <a:ea typeface="Arial"/>
              <a:cs typeface="Arial"/>
              <a:sym typeface="Arial"/>
            </a:endParaRPr>
          </a:p>
        </p:txBody>
      </p:sp>
      <p:pic>
        <p:nvPicPr>
          <p:cNvPr id="65" name="Google Shape;65;p15"/>
          <p:cNvPicPr preferRelativeResize="0"/>
          <p:nvPr/>
        </p:nvPicPr>
        <p:blipFill rotWithShape="1">
          <a:blip r:embed="rId3">
            <a:alphaModFix/>
          </a:blip>
          <a:srcRect b="0" l="0" r="0" t="0"/>
          <a:stretch/>
        </p:blipFill>
        <p:spPr>
          <a:xfrm>
            <a:off x="3048000" y="3238500"/>
            <a:ext cx="304800" cy="304800"/>
          </a:xfrm>
          <a:prstGeom prst="rect">
            <a:avLst/>
          </a:prstGeom>
          <a:noFill/>
          <a:ln>
            <a:noFill/>
          </a:ln>
        </p:spPr>
      </p:pic>
      <p:sp>
        <p:nvSpPr>
          <p:cNvPr id="66" name="Google Shape;66;p15"/>
          <p:cNvSpPr/>
          <p:nvPr/>
        </p:nvSpPr>
        <p:spPr>
          <a:xfrm>
            <a:off x="2724150" y="3571875"/>
            <a:ext cx="952500" cy="28575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None/>
            </a:pPr>
            <a:r>
              <a:rPr b="0" i="0" lang="en" sz="1100" u="none" cap="none" strike="noStrike">
                <a:solidFill>
                  <a:srgbClr val="C8C8C8"/>
                </a:solidFill>
                <a:latin typeface="Noto Sans SC"/>
                <a:ea typeface="Noto Sans SC"/>
                <a:cs typeface="Noto Sans SC"/>
                <a:sym typeface="Noto Sans SC"/>
              </a:rPr>
              <a:t>Open Architecture</a:t>
            </a:r>
            <a:endParaRPr b="0" i="0" sz="800" u="none" cap="none" strike="noStrike">
              <a:solidFill>
                <a:srgbClr val="000000"/>
              </a:solidFill>
              <a:latin typeface="Arial"/>
              <a:ea typeface="Arial"/>
              <a:cs typeface="Arial"/>
              <a:sym typeface="Arial"/>
            </a:endParaRPr>
          </a:p>
        </p:txBody>
      </p:sp>
      <p:pic>
        <p:nvPicPr>
          <p:cNvPr id="67" name="Google Shape;67;p15"/>
          <p:cNvPicPr preferRelativeResize="0"/>
          <p:nvPr/>
        </p:nvPicPr>
        <p:blipFill rotWithShape="1">
          <a:blip r:embed="rId4">
            <a:alphaModFix/>
          </a:blip>
          <a:srcRect b="0" l="0" r="0" t="0"/>
          <a:stretch/>
        </p:blipFill>
        <p:spPr>
          <a:xfrm>
            <a:off x="4419600" y="3238500"/>
            <a:ext cx="304800" cy="304800"/>
          </a:xfrm>
          <a:prstGeom prst="rect">
            <a:avLst/>
          </a:prstGeom>
          <a:noFill/>
          <a:ln>
            <a:noFill/>
          </a:ln>
        </p:spPr>
      </p:pic>
      <p:sp>
        <p:nvSpPr>
          <p:cNvPr id="68" name="Google Shape;68;p15"/>
          <p:cNvSpPr/>
          <p:nvPr/>
        </p:nvSpPr>
        <p:spPr>
          <a:xfrm>
            <a:off x="4095750" y="3571875"/>
            <a:ext cx="952500" cy="28575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None/>
            </a:pPr>
            <a:r>
              <a:rPr b="0" i="0" lang="en" sz="1100" u="none" cap="none" strike="noStrike">
                <a:solidFill>
                  <a:srgbClr val="C8C8C8"/>
                </a:solidFill>
                <a:latin typeface="Noto Sans SC"/>
                <a:ea typeface="Noto Sans SC"/>
                <a:cs typeface="Noto Sans SC"/>
                <a:sym typeface="Noto Sans SC"/>
              </a:rPr>
              <a:t>Flexible Design</a:t>
            </a:r>
            <a:endParaRPr b="0" i="0" sz="8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5">
            <a:alphaModFix/>
          </a:blip>
          <a:srcRect b="0" l="0" r="0" t="0"/>
          <a:stretch/>
        </p:blipFill>
        <p:spPr>
          <a:xfrm>
            <a:off x="5791200" y="3238500"/>
            <a:ext cx="304800" cy="304800"/>
          </a:xfrm>
          <a:prstGeom prst="rect">
            <a:avLst/>
          </a:prstGeom>
          <a:noFill/>
          <a:ln>
            <a:noFill/>
          </a:ln>
        </p:spPr>
      </p:pic>
      <p:sp>
        <p:nvSpPr>
          <p:cNvPr id="70" name="Google Shape;70;p15"/>
          <p:cNvSpPr/>
          <p:nvPr/>
        </p:nvSpPr>
        <p:spPr>
          <a:xfrm>
            <a:off x="5467350" y="3571875"/>
            <a:ext cx="952500" cy="28575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None/>
            </a:pPr>
            <a:r>
              <a:rPr b="0" i="0" lang="en" sz="1100" u="none" cap="none" strike="noStrike">
                <a:solidFill>
                  <a:srgbClr val="C8C8C8"/>
                </a:solidFill>
                <a:latin typeface="Noto Sans SC"/>
                <a:ea typeface="Noto Sans SC"/>
                <a:cs typeface="Noto Sans SC"/>
                <a:sym typeface="Noto Sans SC"/>
              </a:rPr>
              <a:t>Sustainable</a:t>
            </a:r>
            <a:endParaRPr b="0" i="0" sz="8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78" name="Shape 78"/>
        <p:cNvGrpSpPr/>
        <p:nvPr/>
      </p:nvGrpSpPr>
      <p:grpSpPr>
        <a:xfrm>
          <a:off x="0" y="0"/>
          <a:ext cx="0" cy="0"/>
          <a:chOff x="0" y="0"/>
          <a:chExt cx="0" cy="0"/>
        </a:xfrm>
      </p:grpSpPr>
      <p:sp>
        <p:nvSpPr>
          <p:cNvPr id="79" name="Google Shape;79;p16"/>
          <p:cNvSpPr/>
          <p:nvPr/>
        </p:nvSpPr>
        <p:spPr>
          <a:xfrm>
            <a:off x="571500" y="476250"/>
            <a:ext cx="8001000" cy="4762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2700" u="none" cap="none" strike="noStrike">
                <a:solidFill>
                  <a:srgbClr val="00BFFF"/>
                </a:solidFill>
                <a:latin typeface="Poppins"/>
                <a:ea typeface="Poppins"/>
                <a:cs typeface="Poppins"/>
                <a:sym typeface="Poppins"/>
              </a:rPr>
              <a:t>Agenda</a:t>
            </a:r>
            <a:endParaRPr b="0" i="0" sz="800" u="none" cap="none" strike="noStrike">
              <a:solidFill>
                <a:srgbClr val="000000"/>
              </a:solidFill>
              <a:latin typeface="Arial"/>
              <a:ea typeface="Arial"/>
              <a:cs typeface="Arial"/>
              <a:sym typeface="Arial"/>
            </a:endParaRPr>
          </a:p>
        </p:txBody>
      </p:sp>
      <p:sp>
        <p:nvSpPr>
          <p:cNvPr id="80" name="Google Shape;80;p16"/>
          <p:cNvSpPr/>
          <p:nvPr/>
        </p:nvSpPr>
        <p:spPr>
          <a:xfrm>
            <a:off x="571500" y="1238250"/>
            <a:ext cx="8001000" cy="609600"/>
          </a:xfrm>
          <a:prstGeom prst="roundRect">
            <a:avLst>
              <a:gd fmla="val 15625" name="adj"/>
            </a:avLst>
          </a:prstGeom>
          <a:solidFill>
            <a:srgbClr val="FFFFFF">
              <a:alpha val="5098"/>
            </a:srgbClr>
          </a:solidFill>
          <a:ln cap="flat" cmpd="sng" w="12700">
            <a:solidFill>
              <a:srgbClr val="00BFFF">
                <a:alpha val="20000"/>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81" name="Google Shape;81;p16"/>
          <p:cNvPicPr preferRelativeResize="0"/>
          <p:nvPr/>
        </p:nvPicPr>
        <p:blipFill rotWithShape="1">
          <a:blip r:embed="rId3">
            <a:alphaModFix/>
          </a:blip>
          <a:srcRect b="0" l="0" r="0" t="0"/>
          <a:stretch/>
        </p:blipFill>
        <p:spPr>
          <a:xfrm>
            <a:off x="762000" y="1390650"/>
            <a:ext cx="304800" cy="304800"/>
          </a:xfrm>
          <a:prstGeom prst="rect">
            <a:avLst/>
          </a:prstGeom>
          <a:noFill/>
          <a:ln>
            <a:noFill/>
          </a:ln>
        </p:spPr>
      </p:pic>
      <p:sp>
        <p:nvSpPr>
          <p:cNvPr id="82" name="Google Shape;82;p16"/>
          <p:cNvSpPr/>
          <p:nvPr/>
        </p:nvSpPr>
        <p:spPr>
          <a:xfrm>
            <a:off x="1181100" y="1314450"/>
            <a:ext cx="7143750" cy="4572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The Challenge:</a:t>
            </a:r>
            <a:r>
              <a:rPr b="0" i="0" lang="en" sz="1400" u="none" cap="none" strike="noStrike">
                <a:solidFill>
                  <a:srgbClr val="FFFFFF"/>
                </a:solidFill>
                <a:latin typeface="Roboto"/>
                <a:ea typeface="Roboto"/>
                <a:cs typeface="Roboto"/>
                <a:sym typeface="Roboto"/>
              </a:rPr>
              <a:t>Limitations of Traditional Low-Code</a:t>
            </a:r>
            <a:endParaRPr b="0" i="0" sz="800" u="none" cap="none" strike="noStrike">
              <a:solidFill>
                <a:srgbClr val="000000"/>
              </a:solidFill>
              <a:latin typeface="Arial"/>
              <a:ea typeface="Arial"/>
              <a:cs typeface="Arial"/>
              <a:sym typeface="Arial"/>
            </a:endParaRPr>
          </a:p>
        </p:txBody>
      </p:sp>
      <p:sp>
        <p:nvSpPr>
          <p:cNvPr id="83" name="Google Shape;83;p16"/>
          <p:cNvSpPr/>
          <p:nvPr/>
        </p:nvSpPr>
        <p:spPr>
          <a:xfrm>
            <a:off x="571500" y="1943100"/>
            <a:ext cx="8001000" cy="609600"/>
          </a:xfrm>
          <a:prstGeom prst="roundRect">
            <a:avLst>
              <a:gd fmla="val 15625" name="adj"/>
            </a:avLst>
          </a:prstGeom>
          <a:solidFill>
            <a:srgbClr val="FFFFFF">
              <a:alpha val="5098"/>
            </a:srgbClr>
          </a:solidFill>
          <a:ln cap="flat" cmpd="sng" w="12700">
            <a:solidFill>
              <a:srgbClr val="00BFFF">
                <a:alpha val="20000"/>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84" name="Google Shape;84;p16"/>
          <p:cNvPicPr preferRelativeResize="0"/>
          <p:nvPr/>
        </p:nvPicPr>
        <p:blipFill rotWithShape="1">
          <a:blip r:embed="rId4">
            <a:alphaModFix/>
          </a:blip>
          <a:srcRect b="0" l="0" r="0" t="0"/>
          <a:stretch/>
        </p:blipFill>
        <p:spPr>
          <a:xfrm>
            <a:off x="762000" y="2095500"/>
            <a:ext cx="304800" cy="304800"/>
          </a:xfrm>
          <a:prstGeom prst="rect">
            <a:avLst/>
          </a:prstGeom>
          <a:noFill/>
          <a:ln>
            <a:noFill/>
          </a:ln>
        </p:spPr>
      </p:pic>
      <p:sp>
        <p:nvSpPr>
          <p:cNvPr id="85" name="Google Shape;85;p16"/>
          <p:cNvSpPr/>
          <p:nvPr/>
        </p:nvSpPr>
        <p:spPr>
          <a:xfrm>
            <a:off x="1181100" y="2019300"/>
            <a:ext cx="7143750" cy="4572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Our Vision:</a:t>
            </a:r>
            <a:r>
              <a:rPr b="0" i="0" lang="en" sz="1400" u="none" cap="none" strike="noStrike">
                <a:solidFill>
                  <a:srgbClr val="FFFFFF"/>
                </a:solidFill>
                <a:latin typeface="Roboto"/>
                <a:ea typeface="Roboto"/>
                <a:cs typeface="Roboto"/>
                <a:sym typeface="Roboto"/>
              </a:rPr>
              <a:t>A New Digital Foundation</a:t>
            </a:r>
            <a:endParaRPr b="0" i="0" sz="800" u="none" cap="none" strike="noStrike">
              <a:solidFill>
                <a:srgbClr val="000000"/>
              </a:solidFill>
              <a:latin typeface="Arial"/>
              <a:ea typeface="Arial"/>
              <a:cs typeface="Arial"/>
              <a:sym typeface="Arial"/>
            </a:endParaRPr>
          </a:p>
        </p:txBody>
      </p:sp>
      <p:sp>
        <p:nvSpPr>
          <p:cNvPr id="86" name="Google Shape;86;p16"/>
          <p:cNvSpPr/>
          <p:nvPr/>
        </p:nvSpPr>
        <p:spPr>
          <a:xfrm>
            <a:off x="571500" y="2647950"/>
            <a:ext cx="8001000" cy="609600"/>
          </a:xfrm>
          <a:prstGeom prst="roundRect">
            <a:avLst>
              <a:gd fmla="val 15625" name="adj"/>
            </a:avLst>
          </a:prstGeom>
          <a:solidFill>
            <a:srgbClr val="FFFFFF">
              <a:alpha val="5098"/>
            </a:srgbClr>
          </a:solidFill>
          <a:ln cap="flat" cmpd="sng" w="12700">
            <a:solidFill>
              <a:srgbClr val="00BFFF">
                <a:alpha val="20000"/>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87" name="Google Shape;87;p16"/>
          <p:cNvPicPr preferRelativeResize="0"/>
          <p:nvPr/>
        </p:nvPicPr>
        <p:blipFill rotWithShape="1">
          <a:blip r:embed="rId5">
            <a:alphaModFix/>
          </a:blip>
          <a:srcRect b="0" l="0" r="0" t="0"/>
          <a:stretch/>
        </p:blipFill>
        <p:spPr>
          <a:xfrm>
            <a:off x="762000" y="2800350"/>
            <a:ext cx="304800" cy="304800"/>
          </a:xfrm>
          <a:prstGeom prst="rect">
            <a:avLst/>
          </a:prstGeom>
          <a:noFill/>
          <a:ln>
            <a:noFill/>
          </a:ln>
        </p:spPr>
      </p:pic>
      <p:sp>
        <p:nvSpPr>
          <p:cNvPr id="88" name="Google Shape;88;p16"/>
          <p:cNvSpPr/>
          <p:nvPr/>
        </p:nvSpPr>
        <p:spPr>
          <a:xfrm>
            <a:off x="1181100" y="2724150"/>
            <a:ext cx="7143750" cy="4572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Core Capabilities:</a:t>
            </a:r>
            <a:r>
              <a:rPr b="0" i="0" lang="en" sz="1400" u="none" cap="none" strike="noStrike">
                <a:solidFill>
                  <a:srgbClr val="FFFFFF"/>
                </a:solidFill>
                <a:latin typeface="Roboto"/>
                <a:ea typeface="Roboto"/>
                <a:cs typeface="Roboto"/>
                <a:sym typeface="Roboto"/>
              </a:rPr>
              <a:t>Three Pillars of Innovation</a:t>
            </a:r>
            <a:endParaRPr b="0" i="0" sz="800" u="none" cap="none" strike="noStrike">
              <a:solidFill>
                <a:srgbClr val="000000"/>
              </a:solidFill>
              <a:latin typeface="Arial"/>
              <a:ea typeface="Arial"/>
              <a:cs typeface="Arial"/>
              <a:sym typeface="Arial"/>
            </a:endParaRPr>
          </a:p>
        </p:txBody>
      </p:sp>
      <p:sp>
        <p:nvSpPr>
          <p:cNvPr id="89" name="Google Shape;89;p16"/>
          <p:cNvSpPr/>
          <p:nvPr/>
        </p:nvSpPr>
        <p:spPr>
          <a:xfrm>
            <a:off x="571500" y="3352800"/>
            <a:ext cx="8001000" cy="609600"/>
          </a:xfrm>
          <a:prstGeom prst="roundRect">
            <a:avLst>
              <a:gd fmla="val 15625" name="adj"/>
            </a:avLst>
          </a:prstGeom>
          <a:solidFill>
            <a:srgbClr val="FFFFFF">
              <a:alpha val="5098"/>
            </a:srgbClr>
          </a:solidFill>
          <a:ln cap="flat" cmpd="sng" w="12700">
            <a:solidFill>
              <a:srgbClr val="00BFFF">
                <a:alpha val="20000"/>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90" name="Google Shape;90;p16"/>
          <p:cNvPicPr preferRelativeResize="0"/>
          <p:nvPr/>
        </p:nvPicPr>
        <p:blipFill rotWithShape="1">
          <a:blip r:embed="rId6">
            <a:alphaModFix/>
          </a:blip>
          <a:srcRect b="0" l="0" r="0" t="0"/>
          <a:stretch/>
        </p:blipFill>
        <p:spPr>
          <a:xfrm>
            <a:off x="762000" y="3505200"/>
            <a:ext cx="304800" cy="304800"/>
          </a:xfrm>
          <a:prstGeom prst="rect">
            <a:avLst/>
          </a:prstGeom>
          <a:noFill/>
          <a:ln>
            <a:noFill/>
          </a:ln>
        </p:spPr>
      </p:pic>
      <p:sp>
        <p:nvSpPr>
          <p:cNvPr id="91" name="Google Shape;91;p16"/>
          <p:cNvSpPr/>
          <p:nvPr/>
        </p:nvSpPr>
        <p:spPr>
          <a:xfrm>
            <a:off x="1181100" y="3429000"/>
            <a:ext cx="7143750" cy="4572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The Next-Gen Difference:</a:t>
            </a:r>
            <a:r>
              <a:rPr b="0" i="0" lang="en" sz="1400" u="none" cap="none" strike="noStrike">
                <a:solidFill>
                  <a:srgbClr val="FFFFFF"/>
                </a:solidFill>
                <a:latin typeface="Roboto"/>
                <a:ea typeface="Roboto"/>
                <a:cs typeface="Roboto"/>
                <a:sym typeface="Roboto"/>
              </a:rPr>
              <a:t>Openness vs. Lock-in</a:t>
            </a:r>
            <a:endParaRPr b="0" i="0" sz="800" u="none" cap="none" strike="noStrike">
              <a:solidFill>
                <a:srgbClr val="000000"/>
              </a:solidFill>
              <a:latin typeface="Arial"/>
              <a:ea typeface="Arial"/>
              <a:cs typeface="Arial"/>
              <a:sym typeface="Arial"/>
            </a:endParaRPr>
          </a:p>
        </p:txBody>
      </p:sp>
      <p:sp>
        <p:nvSpPr>
          <p:cNvPr id="92" name="Google Shape;92;p16"/>
          <p:cNvSpPr/>
          <p:nvPr/>
        </p:nvSpPr>
        <p:spPr>
          <a:xfrm>
            <a:off x="571500" y="4057650"/>
            <a:ext cx="8001000" cy="609600"/>
          </a:xfrm>
          <a:prstGeom prst="roundRect">
            <a:avLst>
              <a:gd fmla="val 15625" name="adj"/>
            </a:avLst>
          </a:prstGeom>
          <a:solidFill>
            <a:srgbClr val="FFFFFF">
              <a:alpha val="5098"/>
            </a:srgbClr>
          </a:solidFill>
          <a:ln cap="flat" cmpd="sng" w="12700">
            <a:solidFill>
              <a:srgbClr val="00BFFF">
                <a:alpha val="20000"/>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93" name="Google Shape;93;p16"/>
          <p:cNvPicPr preferRelativeResize="0"/>
          <p:nvPr/>
        </p:nvPicPr>
        <p:blipFill rotWithShape="1">
          <a:blip r:embed="rId7">
            <a:alphaModFix/>
          </a:blip>
          <a:srcRect b="0" l="0" r="0" t="0"/>
          <a:stretch/>
        </p:blipFill>
        <p:spPr>
          <a:xfrm>
            <a:off x="762000" y="4210050"/>
            <a:ext cx="304800" cy="304800"/>
          </a:xfrm>
          <a:prstGeom prst="rect">
            <a:avLst/>
          </a:prstGeom>
          <a:noFill/>
          <a:ln>
            <a:noFill/>
          </a:ln>
        </p:spPr>
      </p:pic>
      <p:sp>
        <p:nvSpPr>
          <p:cNvPr id="94" name="Google Shape;94;p16"/>
          <p:cNvSpPr/>
          <p:nvPr/>
        </p:nvSpPr>
        <p:spPr>
          <a:xfrm>
            <a:off x="1181100" y="4133850"/>
            <a:ext cx="7143750" cy="4572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Conclusion:</a:t>
            </a:r>
            <a:r>
              <a:rPr b="0" i="0" lang="en" sz="1400" u="none" cap="none" strike="noStrike">
                <a:solidFill>
                  <a:srgbClr val="FFFFFF"/>
                </a:solidFill>
                <a:latin typeface="Roboto"/>
                <a:ea typeface="Roboto"/>
                <a:cs typeface="Roboto"/>
                <a:sym typeface="Roboto"/>
              </a:rPr>
              <a:t>A Foundation for the Future</a:t>
            </a:r>
            <a:endParaRPr b="0" i="0" sz="8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102" name="Shape 102"/>
        <p:cNvGrpSpPr/>
        <p:nvPr/>
      </p:nvGrpSpPr>
      <p:grpSpPr>
        <a:xfrm>
          <a:off x="0" y="0"/>
          <a:ext cx="0" cy="0"/>
          <a:chOff x="0" y="0"/>
          <a:chExt cx="0" cy="0"/>
        </a:xfrm>
      </p:grpSpPr>
      <p:sp>
        <p:nvSpPr>
          <p:cNvPr id="103" name="Google Shape;103;p17"/>
          <p:cNvSpPr/>
          <p:nvPr/>
        </p:nvSpPr>
        <p:spPr>
          <a:xfrm>
            <a:off x="571500" y="476250"/>
            <a:ext cx="8001000" cy="571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2700" u="none" cap="none" strike="noStrike">
                <a:solidFill>
                  <a:srgbClr val="00BFFF"/>
                </a:solidFill>
                <a:latin typeface="Poppins"/>
                <a:ea typeface="Poppins"/>
                <a:cs typeface="Poppins"/>
                <a:sym typeface="Poppins"/>
              </a:rPr>
              <a:t>The Challenge: Traditional Low-Code Limitations</a:t>
            </a:r>
            <a:endParaRPr b="0" i="0" sz="800" u="none" cap="none" strike="noStrike">
              <a:solidFill>
                <a:srgbClr val="000000"/>
              </a:solidFill>
              <a:latin typeface="Arial"/>
              <a:ea typeface="Arial"/>
              <a:cs typeface="Arial"/>
              <a:sym typeface="Arial"/>
            </a:endParaRPr>
          </a:p>
        </p:txBody>
      </p:sp>
      <p:sp>
        <p:nvSpPr>
          <p:cNvPr id="104" name="Google Shape;104;p17"/>
          <p:cNvSpPr/>
          <p:nvPr/>
        </p:nvSpPr>
        <p:spPr>
          <a:xfrm>
            <a:off x="571500" y="1095375"/>
            <a:ext cx="800100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While traditional low-code platforms brought speed, they introduced significant new challenges:</a:t>
            </a:r>
            <a:endParaRPr b="0" i="0" sz="800" u="none" cap="none" strike="noStrike">
              <a:solidFill>
                <a:srgbClr val="000000"/>
              </a:solidFill>
              <a:latin typeface="Arial"/>
              <a:ea typeface="Arial"/>
              <a:cs typeface="Arial"/>
              <a:sym typeface="Arial"/>
            </a:endParaRPr>
          </a:p>
        </p:txBody>
      </p:sp>
      <p:sp>
        <p:nvSpPr>
          <p:cNvPr id="105" name="Google Shape;105;p17"/>
          <p:cNvSpPr/>
          <p:nvPr/>
        </p:nvSpPr>
        <p:spPr>
          <a:xfrm>
            <a:off x="571500" y="1619250"/>
            <a:ext cx="3905250" cy="1428750"/>
          </a:xfrm>
          <a:prstGeom prst="roundRect">
            <a:avLst>
              <a:gd fmla="val 666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06" name="Google Shape;106;p17"/>
          <p:cNvPicPr preferRelativeResize="0"/>
          <p:nvPr/>
        </p:nvPicPr>
        <p:blipFill rotWithShape="1">
          <a:blip r:embed="rId3">
            <a:alphaModFix/>
          </a:blip>
          <a:srcRect b="0" l="0" r="0" t="0"/>
          <a:stretch/>
        </p:blipFill>
        <p:spPr>
          <a:xfrm>
            <a:off x="762000" y="1809750"/>
            <a:ext cx="304800" cy="304800"/>
          </a:xfrm>
          <a:prstGeom prst="rect">
            <a:avLst/>
          </a:prstGeom>
          <a:noFill/>
          <a:ln>
            <a:noFill/>
          </a:ln>
        </p:spPr>
      </p:pic>
      <p:sp>
        <p:nvSpPr>
          <p:cNvPr id="107" name="Google Shape;107;p17"/>
          <p:cNvSpPr/>
          <p:nvPr/>
        </p:nvSpPr>
        <p:spPr>
          <a:xfrm>
            <a:off x="1143000" y="1790700"/>
            <a:ext cx="3143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Increasing Costs</a:t>
            </a:r>
            <a:endParaRPr b="0" i="0" sz="800" u="none" cap="none" strike="noStrike">
              <a:solidFill>
                <a:srgbClr val="000000"/>
              </a:solidFill>
              <a:latin typeface="Arial"/>
              <a:ea typeface="Arial"/>
              <a:cs typeface="Arial"/>
              <a:sym typeface="Arial"/>
            </a:endParaRPr>
          </a:p>
        </p:txBody>
      </p:sp>
      <p:sp>
        <p:nvSpPr>
          <p:cNvPr id="108" name="Google Shape;108;p17"/>
          <p:cNvSpPr/>
          <p:nvPr/>
        </p:nvSpPr>
        <p:spPr>
          <a:xfrm>
            <a:off x="762000" y="2143125"/>
            <a:ext cx="3524250" cy="762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Escalating licensing fees that become prohibitive at scale, eroding initial ROI over time.</a:t>
            </a:r>
            <a:endParaRPr b="0" i="0" sz="800" u="none" cap="none" strike="noStrike">
              <a:solidFill>
                <a:srgbClr val="000000"/>
              </a:solidFill>
              <a:latin typeface="Arial"/>
              <a:ea typeface="Arial"/>
              <a:cs typeface="Arial"/>
              <a:sym typeface="Arial"/>
            </a:endParaRPr>
          </a:p>
        </p:txBody>
      </p:sp>
      <p:sp>
        <p:nvSpPr>
          <p:cNvPr id="109" name="Google Shape;109;p17"/>
          <p:cNvSpPr/>
          <p:nvPr/>
        </p:nvSpPr>
        <p:spPr>
          <a:xfrm>
            <a:off x="4667250" y="1619250"/>
            <a:ext cx="3905250" cy="1428750"/>
          </a:xfrm>
          <a:prstGeom prst="roundRect">
            <a:avLst>
              <a:gd fmla="val 666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10" name="Google Shape;110;p17"/>
          <p:cNvPicPr preferRelativeResize="0"/>
          <p:nvPr/>
        </p:nvPicPr>
        <p:blipFill rotWithShape="1">
          <a:blip r:embed="rId4">
            <a:alphaModFix/>
          </a:blip>
          <a:srcRect b="0" l="0" r="0" t="0"/>
          <a:stretch/>
        </p:blipFill>
        <p:spPr>
          <a:xfrm>
            <a:off x="4857750" y="1809750"/>
            <a:ext cx="304800" cy="304800"/>
          </a:xfrm>
          <a:prstGeom prst="rect">
            <a:avLst/>
          </a:prstGeom>
          <a:noFill/>
          <a:ln>
            <a:noFill/>
          </a:ln>
        </p:spPr>
      </p:pic>
      <p:sp>
        <p:nvSpPr>
          <p:cNvPr id="111" name="Google Shape;111;p17"/>
          <p:cNvSpPr/>
          <p:nvPr/>
        </p:nvSpPr>
        <p:spPr>
          <a:xfrm>
            <a:off x="5238750" y="1790700"/>
            <a:ext cx="3143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Vendor Lock-in</a:t>
            </a:r>
            <a:endParaRPr b="0" i="0" sz="800" u="none" cap="none" strike="noStrike">
              <a:solidFill>
                <a:srgbClr val="000000"/>
              </a:solidFill>
              <a:latin typeface="Arial"/>
              <a:ea typeface="Arial"/>
              <a:cs typeface="Arial"/>
              <a:sym typeface="Arial"/>
            </a:endParaRPr>
          </a:p>
        </p:txBody>
      </p:sp>
      <p:sp>
        <p:nvSpPr>
          <p:cNvPr id="112" name="Google Shape;112;p17"/>
          <p:cNvSpPr/>
          <p:nvPr/>
        </p:nvSpPr>
        <p:spPr>
          <a:xfrm>
            <a:off x="4857750" y="2143125"/>
            <a:ext cx="3524250" cy="762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Difficulty switching platforms or integrating deeply with existing enterprise systems.</a:t>
            </a:r>
            <a:endParaRPr b="0" i="0" sz="800" u="none" cap="none" strike="noStrike">
              <a:solidFill>
                <a:srgbClr val="000000"/>
              </a:solidFill>
              <a:latin typeface="Arial"/>
              <a:ea typeface="Arial"/>
              <a:cs typeface="Arial"/>
              <a:sym typeface="Arial"/>
            </a:endParaRPr>
          </a:p>
        </p:txBody>
      </p:sp>
      <p:sp>
        <p:nvSpPr>
          <p:cNvPr id="113" name="Google Shape;113;p17"/>
          <p:cNvSpPr/>
          <p:nvPr/>
        </p:nvSpPr>
        <p:spPr>
          <a:xfrm>
            <a:off x="571500" y="3238500"/>
            <a:ext cx="3905250" cy="1428750"/>
          </a:xfrm>
          <a:prstGeom prst="roundRect">
            <a:avLst>
              <a:gd fmla="val 666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14" name="Google Shape;114;p17"/>
          <p:cNvPicPr preferRelativeResize="0"/>
          <p:nvPr/>
        </p:nvPicPr>
        <p:blipFill rotWithShape="1">
          <a:blip r:embed="rId5">
            <a:alphaModFix/>
          </a:blip>
          <a:srcRect b="0" l="0" r="0" t="0"/>
          <a:stretch/>
        </p:blipFill>
        <p:spPr>
          <a:xfrm>
            <a:off x="762000" y="3429000"/>
            <a:ext cx="304800" cy="304800"/>
          </a:xfrm>
          <a:prstGeom prst="rect">
            <a:avLst/>
          </a:prstGeom>
          <a:noFill/>
          <a:ln>
            <a:noFill/>
          </a:ln>
        </p:spPr>
      </p:pic>
      <p:sp>
        <p:nvSpPr>
          <p:cNvPr id="115" name="Google Shape;115;p17"/>
          <p:cNvSpPr/>
          <p:nvPr/>
        </p:nvSpPr>
        <p:spPr>
          <a:xfrm>
            <a:off x="1143000" y="3409950"/>
            <a:ext cx="3143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Limited Extensibility</a:t>
            </a:r>
            <a:endParaRPr b="0" i="0" sz="800" u="none" cap="none" strike="noStrike">
              <a:solidFill>
                <a:srgbClr val="000000"/>
              </a:solidFill>
              <a:latin typeface="Arial"/>
              <a:ea typeface="Arial"/>
              <a:cs typeface="Arial"/>
              <a:sym typeface="Arial"/>
            </a:endParaRPr>
          </a:p>
        </p:txBody>
      </p:sp>
      <p:sp>
        <p:nvSpPr>
          <p:cNvPr id="116" name="Google Shape;116;p17"/>
          <p:cNvSpPr/>
          <p:nvPr/>
        </p:nvSpPr>
        <p:spPr>
          <a:xfrm>
            <a:off x="762000" y="3762375"/>
            <a:ext cx="3524250" cy="762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Hard to customize beyond the vendor's predefined scope, stifling unique business logic.</a:t>
            </a:r>
            <a:endParaRPr b="0" i="0" sz="800" u="none" cap="none" strike="noStrike">
              <a:solidFill>
                <a:srgbClr val="000000"/>
              </a:solidFill>
              <a:latin typeface="Arial"/>
              <a:ea typeface="Arial"/>
              <a:cs typeface="Arial"/>
              <a:sym typeface="Arial"/>
            </a:endParaRPr>
          </a:p>
        </p:txBody>
      </p:sp>
      <p:sp>
        <p:nvSpPr>
          <p:cNvPr id="117" name="Google Shape;117;p17"/>
          <p:cNvSpPr/>
          <p:nvPr/>
        </p:nvSpPr>
        <p:spPr>
          <a:xfrm>
            <a:off x="4667250" y="3238500"/>
            <a:ext cx="3905250" cy="1428750"/>
          </a:xfrm>
          <a:prstGeom prst="roundRect">
            <a:avLst>
              <a:gd fmla="val 666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18" name="Google Shape;118;p17"/>
          <p:cNvPicPr preferRelativeResize="0"/>
          <p:nvPr/>
        </p:nvPicPr>
        <p:blipFill rotWithShape="1">
          <a:blip r:embed="rId6">
            <a:alphaModFix/>
          </a:blip>
          <a:srcRect b="0" l="0" r="0" t="0"/>
          <a:stretch/>
        </p:blipFill>
        <p:spPr>
          <a:xfrm>
            <a:off x="4857750" y="3429000"/>
            <a:ext cx="304800" cy="304800"/>
          </a:xfrm>
          <a:prstGeom prst="rect">
            <a:avLst/>
          </a:prstGeom>
          <a:noFill/>
          <a:ln>
            <a:noFill/>
          </a:ln>
        </p:spPr>
      </p:pic>
      <p:sp>
        <p:nvSpPr>
          <p:cNvPr id="119" name="Google Shape;119;p17"/>
          <p:cNvSpPr/>
          <p:nvPr/>
        </p:nvSpPr>
        <p:spPr>
          <a:xfrm>
            <a:off x="5238750" y="3409950"/>
            <a:ext cx="3143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Uncertain Scalability</a:t>
            </a:r>
            <a:endParaRPr b="0" i="0" sz="800" u="none" cap="none" strike="noStrike">
              <a:solidFill>
                <a:srgbClr val="000000"/>
              </a:solidFill>
              <a:latin typeface="Arial"/>
              <a:ea typeface="Arial"/>
              <a:cs typeface="Arial"/>
              <a:sym typeface="Arial"/>
            </a:endParaRPr>
          </a:p>
        </p:txBody>
      </p:sp>
      <p:sp>
        <p:nvSpPr>
          <p:cNvPr id="120" name="Google Shape;120;p17"/>
          <p:cNvSpPr/>
          <p:nvPr/>
        </p:nvSpPr>
        <p:spPr>
          <a:xfrm>
            <a:off x="4857750" y="3762375"/>
            <a:ext cx="3524250" cy="762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Doubts about long-term growth support, especially for high-performance, mission-critical applications.</a:t>
            </a:r>
            <a:endParaRPr b="0" i="0" sz="8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128" name="Shape 128"/>
        <p:cNvGrpSpPr/>
        <p:nvPr/>
      </p:nvGrpSpPr>
      <p:grpSpPr>
        <a:xfrm>
          <a:off x="0" y="0"/>
          <a:ext cx="0" cy="0"/>
          <a:chOff x="0" y="0"/>
          <a:chExt cx="0" cy="0"/>
        </a:xfrm>
      </p:grpSpPr>
      <p:sp>
        <p:nvSpPr>
          <p:cNvPr id="129" name="Google Shape;129;p18"/>
          <p:cNvSpPr/>
          <p:nvPr/>
        </p:nvSpPr>
        <p:spPr>
          <a:xfrm>
            <a:off x="571500" y="476250"/>
            <a:ext cx="8001000" cy="4762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2700" u="none" cap="none" strike="noStrike">
                <a:solidFill>
                  <a:srgbClr val="00BFFF"/>
                </a:solidFill>
                <a:latin typeface="Poppins"/>
                <a:ea typeface="Poppins"/>
                <a:cs typeface="Poppins"/>
                <a:sym typeface="Poppins"/>
              </a:rPr>
              <a:t>Our Vision: A Digital Process Foundation</a:t>
            </a:r>
            <a:endParaRPr b="0" i="0" sz="800" u="none" cap="none" strike="noStrike">
              <a:solidFill>
                <a:srgbClr val="000000"/>
              </a:solidFill>
              <a:latin typeface="Arial"/>
              <a:ea typeface="Arial"/>
              <a:cs typeface="Arial"/>
              <a:sym typeface="Arial"/>
            </a:endParaRPr>
          </a:p>
        </p:txBody>
      </p:sp>
      <p:sp>
        <p:nvSpPr>
          <p:cNvPr id="130" name="Google Shape;130;p18"/>
          <p:cNvSpPr/>
          <p:nvPr/>
        </p:nvSpPr>
        <p:spPr>
          <a:xfrm>
            <a:off x="571500" y="1047750"/>
            <a:ext cx="800100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400" u="none" cap="none" strike="noStrike">
                <a:solidFill>
                  <a:srgbClr val="FFFFFF"/>
                </a:solidFill>
                <a:latin typeface="Roboto"/>
                <a:ea typeface="Roboto"/>
                <a:cs typeface="Roboto"/>
                <a:sym typeface="Roboto"/>
              </a:rPr>
              <a:t>Building a strategic digital foundation, not just another automation tool.</a:t>
            </a:r>
            <a:endParaRPr b="0" i="0" sz="800" u="none" cap="none" strike="noStrike">
              <a:solidFill>
                <a:srgbClr val="000000"/>
              </a:solidFill>
              <a:latin typeface="Arial"/>
              <a:ea typeface="Arial"/>
              <a:cs typeface="Arial"/>
              <a:sym typeface="Arial"/>
            </a:endParaRPr>
          </a:p>
        </p:txBody>
      </p:sp>
      <p:sp>
        <p:nvSpPr>
          <p:cNvPr id="131" name="Google Shape;131;p18"/>
          <p:cNvSpPr/>
          <p:nvPr/>
        </p:nvSpPr>
        <p:spPr>
          <a:xfrm>
            <a:off x="571500" y="1619250"/>
            <a:ext cx="2476500" cy="2095500"/>
          </a:xfrm>
          <a:prstGeom prst="roundRect">
            <a:avLst>
              <a:gd fmla="val 4545"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32" name="Google Shape;132;p18"/>
          <p:cNvPicPr preferRelativeResize="0"/>
          <p:nvPr/>
        </p:nvPicPr>
        <p:blipFill rotWithShape="1">
          <a:blip r:embed="rId3">
            <a:alphaModFix/>
          </a:blip>
          <a:srcRect b="0" l="0" r="0" t="0"/>
          <a:stretch/>
        </p:blipFill>
        <p:spPr>
          <a:xfrm>
            <a:off x="762000" y="1809750"/>
            <a:ext cx="304800" cy="304800"/>
          </a:xfrm>
          <a:prstGeom prst="rect">
            <a:avLst/>
          </a:prstGeom>
          <a:noFill/>
          <a:ln>
            <a:noFill/>
          </a:ln>
        </p:spPr>
      </p:pic>
      <p:sp>
        <p:nvSpPr>
          <p:cNvPr id="133" name="Google Shape;133;p18"/>
          <p:cNvSpPr/>
          <p:nvPr/>
        </p:nvSpPr>
        <p:spPr>
          <a:xfrm>
            <a:off x="762000" y="2190750"/>
            <a:ext cx="209550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Business Teams</a:t>
            </a:r>
            <a:endParaRPr b="0" i="0" sz="800" u="none" cap="none" strike="noStrike">
              <a:solidFill>
                <a:srgbClr val="000000"/>
              </a:solidFill>
              <a:latin typeface="Arial"/>
              <a:ea typeface="Arial"/>
              <a:cs typeface="Arial"/>
              <a:sym typeface="Arial"/>
            </a:endParaRPr>
          </a:p>
        </p:txBody>
      </p:sp>
      <p:cxnSp>
        <p:nvCxnSpPr>
          <p:cNvPr id="134" name="Google Shape;134;p18"/>
          <p:cNvCxnSpPr/>
          <p:nvPr/>
        </p:nvCxnSpPr>
        <p:spPr>
          <a:xfrm rot="-85925">
            <a:off x="762059" y="2519363"/>
            <a:ext cx="381000" cy="9525"/>
          </a:xfrm>
          <a:prstGeom prst="straightConnector1">
            <a:avLst/>
          </a:prstGeom>
          <a:solidFill>
            <a:srgbClr val="DEE0E3"/>
          </a:solidFill>
          <a:ln cap="flat" cmpd="sng" w="25400">
            <a:solidFill>
              <a:srgbClr val="00BFFF"/>
            </a:solidFill>
            <a:prstDash val="solid"/>
            <a:round/>
            <a:headEnd len="sm" w="sm" type="none"/>
            <a:tailEnd len="sm" w="sm" type="none"/>
          </a:ln>
        </p:spPr>
      </p:cxnSp>
      <p:sp>
        <p:nvSpPr>
          <p:cNvPr id="135" name="Google Shape;135;p18"/>
          <p:cNvSpPr/>
          <p:nvPr/>
        </p:nvSpPr>
        <p:spPr>
          <a:xfrm>
            <a:off x="762000" y="2667000"/>
            <a:ext cx="2095500" cy="762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Move fast with self-service tools, enabling rapid innovation and iteration.</a:t>
            </a:r>
            <a:endParaRPr b="0" i="0" sz="800" u="none" cap="none" strike="noStrike">
              <a:solidFill>
                <a:srgbClr val="000000"/>
              </a:solidFill>
              <a:latin typeface="Arial"/>
              <a:ea typeface="Arial"/>
              <a:cs typeface="Arial"/>
              <a:sym typeface="Arial"/>
            </a:endParaRPr>
          </a:p>
        </p:txBody>
      </p:sp>
      <p:sp>
        <p:nvSpPr>
          <p:cNvPr id="136" name="Google Shape;136;p18"/>
          <p:cNvSpPr/>
          <p:nvPr/>
        </p:nvSpPr>
        <p:spPr>
          <a:xfrm>
            <a:off x="3333750" y="1619250"/>
            <a:ext cx="2476500" cy="2095500"/>
          </a:xfrm>
          <a:prstGeom prst="roundRect">
            <a:avLst>
              <a:gd fmla="val 4545"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37" name="Google Shape;137;p18"/>
          <p:cNvPicPr preferRelativeResize="0"/>
          <p:nvPr/>
        </p:nvPicPr>
        <p:blipFill rotWithShape="1">
          <a:blip r:embed="rId4">
            <a:alphaModFix/>
          </a:blip>
          <a:srcRect b="0" l="0" r="0" t="0"/>
          <a:stretch/>
        </p:blipFill>
        <p:spPr>
          <a:xfrm>
            <a:off x="3524250" y="1809750"/>
            <a:ext cx="304800" cy="304800"/>
          </a:xfrm>
          <a:prstGeom prst="rect">
            <a:avLst/>
          </a:prstGeom>
          <a:noFill/>
          <a:ln>
            <a:noFill/>
          </a:ln>
        </p:spPr>
      </p:pic>
      <p:sp>
        <p:nvSpPr>
          <p:cNvPr id="138" name="Google Shape;138;p18"/>
          <p:cNvSpPr/>
          <p:nvPr/>
        </p:nvSpPr>
        <p:spPr>
          <a:xfrm>
            <a:off x="3524250" y="2190750"/>
            <a:ext cx="209550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Leadership</a:t>
            </a:r>
            <a:endParaRPr b="0" i="0" sz="800" u="none" cap="none" strike="noStrike">
              <a:solidFill>
                <a:srgbClr val="000000"/>
              </a:solidFill>
              <a:latin typeface="Arial"/>
              <a:ea typeface="Arial"/>
              <a:cs typeface="Arial"/>
              <a:sym typeface="Arial"/>
            </a:endParaRPr>
          </a:p>
        </p:txBody>
      </p:sp>
      <p:cxnSp>
        <p:nvCxnSpPr>
          <p:cNvPr id="139" name="Google Shape;139;p18"/>
          <p:cNvCxnSpPr/>
          <p:nvPr/>
        </p:nvCxnSpPr>
        <p:spPr>
          <a:xfrm rot="-85925">
            <a:off x="3524309" y="2519363"/>
            <a:ext cx="381000" cy="9525"/>
          </a:xfrm>
          <a:prstGeom prst="straightConnector1">
            <a:avLst/>
          </a:prstGeom>
          <a:solidFill>
            <a:srgbClr val="DEE0E3"/>
          </a:solidFill>
          <a:ln cap="flat" cmpd="sng" w="25400">
            <a:solidFill>
              <a:srgbClr val="00BFFF"/>
            </a:solidFill>
            <a:prstDash val="solid"/>
            <a:round/>
            <a:headEnd len="sm" w="sm" type="none"/>
            <a:tailEnd len="sm" w="sm" type="none"/>
          </a:ln>
        </p:spPr>
      </p:cxnSp>
      <p:sp>
        <p:nvSpPr>
          <p:cNvPr id="140" name="Google Shape;140;p18"/>
          <p:cNvSpPr/>
          <p:nvPr/>
        </p:nvSpPr>
        <p:spPr>
          <a:xfrm>
            <a:off x="3524250" y="2667000"/>
            <a:ext cx="2095500" cy="762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Gain full transparency into operations with complete visibility across the enterprise.</a:t>
            </a:r>
            <a:endParaRPr b="0" i="0" sz="800" u="none" cap="none" strike="noStrike">
              <a:solidFill>
                <a:srgbClr val="000000"/>
              </a:solidFill>
              <a:latin typeface="Arial"/>
              <a:ea typeface="Arial"/>
              <a:cs typeface="Arial"/>
              <a:sym typeface="Arial"/>
            </a:endParaRPr>
          </a:p>
        </p:txBody>
      </p:sp>
      <p:sp>
        <p:nvSpPr>
          <p:cNvPr id="141" name="Google Shape;141;p18"/>
          <p:cNvSpPr/>
          <p:nvPr/>
        </p:nvSpPr>
        <p:spPr>
          <a:xfrm>
            <a:off x="6096000" y="1619250"/>
            <a:ext cx="2476500" cy="2095500"/>
          </a:xfrm>
          <a:prstGeom prst="roundRect">
            <a:avLst>
              <a:gd fmla="val 4545"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42" name="Google Shape;142;p18"/>
          <p:cNvPicPr preferRelativeResize="0"/>
          <p:nvPr/>
        </p:nvPicPr>
        <p:blipFill rotWithShape="1">
          <a:blip r:embed="rId5">
            <a:alphaModFix/>
          </a:blip>
          <a:srcRect b="0" l="0" r="0" t="0"/>
          <a:stretch/>
        </p:blipFill>
        <p:spPr>
          <a:xfrm>
            <a:off x="6286500" y="1809750"/>
            <a:ext cx="304800" cy="304800"/>
          </a:xfrm>
          <a:prstGeom prst="rect">
            <a:avLst/>
          </a:prstGeom>
          <a:noFill/>
          <a:ln>
            <a:noFill/>
          </a:ln>
        </p:spPr>
      </p:pic>
      <p:sp>
        <p:nvSpPr>
          <p:cNvPr id="143" name="Google Shape;143;p18"/>
          <p:cNvSpPr/>
          <p:nvPr/>
        </p:nvSpPr>
        <p:spPr>
          <a:xfrm>
            <a:off x="6286500" y="2190750"/>
            <a:ext cx="209550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The Enterprise</a:t>
            </a:r>
            <a:endParaRPr b="0" i="0" sz="800" u="none" cap="none" strike="noStrike">
              <a:solidFill>
                <a:srgbClr val="000000"/>
              </a:solidFill>
              <a:latin typeface="Arial"/>
              <a:ea typeface="Arial"/>
              <a:cs typeface="Arial"/>
              <a:sym typeface="Arial"/>
            </a:endParaRPr>
          </a:p>
        </p:txBody>
      </p:sp>
      <p:cxnSp>
        <p:nvCxnSpPr>
          <p:cNvPr id="144" name="Google Shape;144;p18"/>
          <p:cNvCxnSpPr/>
          <p:nvPr/>
        </p:nvCxnSpPr>
        <p:spPr>
          <a:xfrm rot="-85925">
            <a:off x="6286559" y="2519363"/>
            <a:ext cx="381000" cy="9525"/>
          </a:xfrm>
          <a:prstGeom prst="straightConnector1">
            <a:avLst/>
          </a:prstGeom>
          <a:solidFill>
            <a:srgbClr val="DEE0E3"/>
          </a:solidFill>
          <a:ln cap="flat" cmpd="sng" w="25400">
            <a:solidFill>
              <a:srgbClr val="00BFFF"/>
            </a:solidFill>
            <a:prstDash val="solid"/>
            <a:round/>
            <a:headEnd len="sm" w="sm" type="none"/>
            <a:tailEnd len="sm" w="sm" type="none"/>
          </a:ln>
        </p:spPr>
      </p:cxnSp>
      <p:sp>
        <p:nvSpPr>
          <p:cNvPr id="145" name="Google Shape;145;p18"/>
          <p:cNvSpPr/>
          <p:nvPr/>
        </p:nvSpPr>
        <p:spPr>
          <a:xfrm>
            <a:off x="6286500" y="2667000"/>
            <a:ext cx="2095500" cy="762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Retains complete control and ownership over its digital assets and processes.</a:t>
            </a:r>
            <a:endParaRPr b="0" i="0" sz="800" u="none" cap="none" strike="noStrike">
              <a:solidFill>
                <a:srgbClr val="000000"/>
              </a:solidFill>
              <a:latin typeface="Arial"/>
              <a:ea typeface="Arial"/>
              <a:cs typeface="Arial"/>
              <a:sym typeface="Arial"/>
            </a:endParaRPr>
          </a:p>
        </p:txBody>
      </p:sp>
      <p:sp>
        <p:nvSpPr>
          <p:cNvPr id="146" name="Google Shape;146;p18"/>
          <p:cNvSpPr/>
          <p:nvPr/>
        </p:nvSpPr>
        <p:spPr>
          <a:xfrm>
            <a:off x="571500" y="3905250"/>
            <a:ext cx="8001000" cy="762000"/>
          </a:xfrm>
          <a:prstGeom prst="roundRect">
            <a:avLst>
              <a:gd fmla="val 12500" name="adj"/>
            </a:avLst>
          </a:prstGeom>
          <a:solidFill>
            <a:srgbClr val="00BFFF">
              <a:alpha val="10196"/>
            </a:srgbClr>
          </a:solidFill>
          <a:ln cap="flat" cmpd="sng" w="12700">
            <a:solidFill>
              <a:srgbClr val="00BFFF">
                <a:alpha val="20000"/>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47" name="Google Shape;147;p18"/>
          <p:cNvPicPr preferRelativeResize="0"/>
          <p:nvPr/>
        </p:nvPicPr>
        <p:blipFill rotWithShape="1">
          <a:blip r:embed="rId6">
            <a:alphaModFix/>
          </a:blip>
          <a:srcRect b="0" l="0" r="0" t="0"/>
          <a:stretch/>
        </p:blipFill>
        <p:spPr>
          <a:xfrm>
            <a:off x="762000" y="4133850"/>
            <a:ext cx="304800" cy="304800"/>
          </a:xfrm>
          <a:prstGeom prst="rect">
            <a:avLst/>
          </a:prstGeom>
          <a:noFill/>
          <a:ln>
            <a:noFill/>
          </a:ln>
        </p:spPr>
      </p:pic>
      <p:sp>
        <p:nvSpPr>
          <p:cNvPr id="148" name="Google Shape;148;p18"/>
          <p:cNvSpPr/>
          <p:nvPr/>
        </p:nvSpPr>
        <p:spPr>
          <a:xfrm>
            <a:off x="1143000" y="4048125"/>
            <a:ext cx="7239000" cy="4762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200" u="none" cap="none" strike="noStrike">
                <a:solidFill>
                  <a:srgbClr val="FFFFFF"/>
                </a:solidFill>
                <a:latin typeface="Roboto"/>
                <a:ea typeface="Roboto"/>
                <a:cs typeface="Roboto"/>
                <a:sym typeface="Roboto"/>
              </a:rPr>
              <a:t>Next Generation Low-Code:</a:t>
            </a:r>
            <a:r>
              <a:rPr b="0" i="0" lang="en" sz="1200" u="none" cap="none" strike="noStrike">
                <a:solidFill>
                  <a:srgbClr val="FFFFFF"/>
                </a:solidFill>
                <a:latin typeface="Roboto"/>
                <a:ea typeface="Roboto"/>
                <a:cs typeface="Roboto"/>
                <a:sym typeface="Roboto"/>
              </a:rPr>
              <a:t>Focused on</a:t>
            </a:r>
            <a:r>
              <a:rPr b="1" i="0" lang="en" sz="1200" u="none" cap="none" strike="noStrike">
                <a:solidFill>
                  <a:srgbClr val="00BFFF"/>
                </a:solidFill>
                <a:latin typeface="Roboto"/>
                <a:ea typeface="Roboto"/>
                <a:cs typeface="Roboto"/>
                <a:sym typeface="Roboto"/>
              </a:rPr>
              <a:t>Control, Scalability, and Ownership</a:t>
            </a:r>
            <a:endParaRPr b="0" i="0" sz="8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156" name="Shape 156"/>
        <p:cNvGrpSpPr/>
        <p:nvPr/>
      </p:nvGrpSpPr>
      <p:grpSpPr>
        <a:xfrm>
          <a:off x="0" y="0"/>
          <a:ext cx="0" cy="0"/>
          <a:chOff x="0" y="0"/>
          <a:chExt cx="0" cy="0"/>
        </a:xfrm>
      </p:grpSpPr>
      <p:sp>
        <p:nvSpPr>
          <p:cNvPr id="157" name="Google Shape;157;p19"/>
          <p:cNvSpPr/>
          <p:nvPr/>
        </p:nvSpPr>
        <p:spPr>
          <a:xfrm>
            <a:off x="571500" y="476250"/>
            <a:ext cx="8001000" cy="4762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2700" u="none" cap="none" strike="noStrike">
                <a:solidFill>
                  <a:srgbClr val="00BFFF"/>
                </a:solidFill>
                <a:latin typeface="Poppins"/>
                <a:ea typeface="Poppins"/>
                <a:cs typeface="Poppins"/>
                <a:sym typeface="Poppins"/>
              </a:rPr>
              <a:t>Core Capability 1: Visual Process Intelligence</a:t>
            </a:r>
            <a:endParaRPr b="0" i="0" sz="800" u="none" cap="none" strike="noStrike">
              <a:solidFill>
                <a:srgbClr val="000000"/>
              </a:solidFill>
              <a:latin typeface="Arial"/>
              <a:ea typeface="Arial"/>
              <a:cs typeface="Arial"/>
              <a:sym typeface="Arial"/>
            </a:endParaRPr>
          </a:p>
        </p:txBody>
      </p:sp>
      <p:sp>
        <p:nvSpPr>
          <p:cNvPr id="158" name="Google Shape;158;p19"/>
          <p:cNvSpPr/>
          <p:nvPr/>
        </p:nvSpPr>
        <p:spPr>
          <a:xfrm>
            <a:off x="571500" y="1047750"/>
            <a:ext cx="800100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500" u="none" cap="none" strike="noStrike">
                <a:solidFill>
                  <a:srgbClr val="FFFFFF"/>
                </a:solidFill>
                <a:latin typeface="Roboto"/>
                <a:ea typeface="Roboto"/>
                <a:cs typeface="Roboto"/>
                <a:sym typeface="Roboto"/>
              </a:rPr>
              <a:t>Turning invisible processes into strategic assets by making them:</a:t>
            </a:r>
            <a:endParaRPr b="0" i="0" sz="800" u="none" cap="none" strike="noStrike">
              <a:solidFill>
                <a:srgbClr val="000000"/>
              </a:solidFill>
              <a:latin typeface="Arial"/>
              <a:ea typeface="Arial"/>
              <a:cs typeface="Arial"/>
              <a:sym typeface="Arial"/>
            </a:endParaRPr>
          </a:p>
        </p:txBody>
      </p:sp>
      <p:sp>
        <p:nvSpPr>
          <p:cNvPr id="159" name="Google Shape;159;p19"/>
          <p:cNvSpPr/>
          <p:nvPr/>
        </p:nvSpPr>
        <p:spPr>
          <a:xfrm>
            <a:off x="571500" y="1714500"/>
            <a:ext cx="2476500" cy="2667000"/>
          </a:xfrm>
          <a:prstGeom prst="roundRect">
            <a:avLst>
              <a:gd fmla="val 384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60" name="Google Shape;160;p19"/>
          <p:cNvPicPr preferRelativeResize="0"/>
          <p:nvPr/>
        </p:nvPicPr>
        <p:blipFill rotWithShape="1">
          <a:blip r:embed="rId3">
            <a:alphaModFix/>
          </a:blip>
          <a:srcRect b="0" l="0" r="0" t="0"/>
          <a:stretch/>
        </p:blipFill>
        <p:spPr>
          <a:xfrm>
            <a:off x="762000" y="1905000"/>
            <a:ext cx="457200" cy="457200"/>
          </a:xfrm>
          <a:prstGeom prst="rect">
            <a:avLst/>
          </a:prstGeom>
          <a:noFill/>
          <a:ln>
            <a:noFill/>
          </a:ln>
        </p:spPr>
      </p:pic>
      <p:sp>
        <p:nvSpPr>
          <p:cNvPr id="161" name="Google Shape;161;p19"/>
          <p:cNvSpPr/>
          <p:nvPr/>
        </p:nvSpPr>
        <p:spPr>
          <a:xfrm>
            <a:off x="762000" y="2428875"/>
            <a:ext cx="2095500" cy="333375"/>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700" u="none" cap="none" strike="noStrike">
                <a:solidFill>
                  <a:srgbClr val="FFFFFF"/>
                </a:solidFill>
                <a:latin typeface="Poppins"/>
                <a:ea typeface="Poppins"/>
                <a:cs typeface="Poppins"/>
                <a:sym typeface="Poppins"/>
              </a:rPr>
              <a:t>Visible</a:t>
            </a:r>
            <a:endParaRPr b="0" i="0" sz="800" u="none" cap="none" strike="noStrike">
              <a:solidFill>
                <a:srgbClr val="000000"/>
              </a:solidFill>
              <a:latin typeface="Arial"/>
              <a:ea typeface="Arial"/>
              <a:cs typeface="Arial"/>
              <a:sym typeface="Arial"/>
            </a:endParaRPr>
          </a:p>
        </p:txBody>
      </p:sp>
      <p:sp>
        <p:nvSpPr>
          <p:cNvPr id="162" name="Google Shape;162;p19"/>
          <p:cNvSpPr/>
          <p:nvPr/>
        </p:nvSpPr>
        <p:spPr>
          <a:xfrm>
            <a:off x="762000" y="2809875"/>
            <a:ext cx="2095500" cy="1143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See exactly where requests are stuck in real-time, eliminating blind spots in your workflow.</a:t>
            </a:r>
            <a:endParaRPr b="0" i="0" sz="800" u="none" cap="none" strike="noStrike">
              <a:solidFill>
                <a:srgbClr val="000000"/>
              </a:solidFill>
              <a:latin typeface="Arial"/>
              <a:ea typeface="Arial"/>
              <a:cs typeface="Arial"/>
              <a:sym typeface="Arial"/>
            </a:endParaRPr>
          </a:p>
        </p:txBody>
      </p:sp>
      <p:sp>
        <p:nvSpPr>
          <p:cNvPr id="163" name="Google Shape;163;p19"/>
          <p:cNvSpPr/>
          <p:nvPr/>
        </p:nvSpPr>
        <p:spPr>
          <a:xfrm>
            <a:off x="3333750" y="1714500"/>
            <a:ext cx="2476500" cy="2667000"/>
          </a:xfrm>
          <a:prstGeom prst="roundRect">
            <a:avLst>
              <a:gd fmla="val 384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64" name="Google Shape;164;p19"/>
          <p:cNvPicPr preferRelativeResize="0"/>
          <p:nvPr/>
        </p:nvPicPr>
        <p:blipFill rotWithShape="1">
          <a:blip r:embed="rId4">
            <a:alphaModFix/>
          </a:blip>
          <a:srcRect b="0" l="0" r="0" t="0"/>
          <a:stretch/>
        </p:blipFill>
        <p:spPr>
          <a:xfrm>
            <a:off x="3524250" y="1905000"/>
            <a:ext cx="457200" cy="457200"/>
          </a:xfrm>
          <a:prstGeom prst="rect">
            <a:avLst/>
          </a:prstGeom>
          <a:noFill/>
          <a:ln>
            <a:noFill/>
          </a:ln>
        </p:spPr>
      </p:pic>
      <p:sp>
        <p:nvSpPr>
          <p:cNvPr id="165" name="Google Shape;165;p19"/>
          <p:cNvSpPr/>
          <p:nvPr/>
        </p:nvSpPr>
        <p:spPr>
          <a:xfrm>
            <a:off x="3524250" y="2428875"/>
            <a:ext cx="2095500" cy="333375"/>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700" u="none" cap="none" strike="noStrike">
                <a:solidFill>
                  <a:srgbClr val="FFFFFF"/>
                </a:solidFill>
                <a:latin typeface="Poppins"/>
                <a:ea typeface="Poppins"/>
                <a:cs typeface="Poppins"/>
                <a:sym typeface="Poppins"/>
              </a:rPr>
              <a:t>Measurable</a:t>
            </a:r>
            <a:endParaRPr b="0" i="0" sz="800" u="none" cap="none" strike="noStrike">
              <a:solidFill>
                <a:srgbClr val="000000"/>
              </a:solidFill>
              <a:latin typeface="Arial"/>
              <a:ea typeface="Arial"/>
              <a:cs typeface="Arial"/>
              <a:sym typeface="Arial"/>
            </a:endParaRPr>
          </a:p>
        </p:txBody>
      </p:sp>
      <p:sp>
        <p:nvSpPr>
          <p:cNvPr id="166" name="Google Shape;166;p19"/>
          <p:cNvSpPr/>
          <p:nvPr/>
        </p:nvSpPr>
        <p:spPr>
          <a:xfrm>
            <a:off x="3524250" y="2809875"/>
            <a:ext cx="2095500" cy="1143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Accurately track cycle times and identify bottlenecks to optimize performance and efficiency.</a:t>
            </a:r>
            <a:endParaRPr b="0" i="0" sz="800" u="none" cap="none" strike="noStrike">
              <a:solidFill>
                <a:srgbClr val="000000"/>
              </a:solidFill>
              <a:latin typeface="Arial"/>
              <a:ea typeface="Arial"/>
              <a:cs typeface="Arial"/>
              <a:sym typeface="Arial"/>
            </a:endParaRPr>
          </a:p>
        </p:txBody>
      </p:sp>
      <p:sp>
        <p:nvSpPr>
          <p:cNvPr id="167" name="Google Shape;167;p19"/>
          <p:cNvSpPr/>
          <p:nvPr/>
        </p:nvSpPr>
        <p:spPr>
          <a:xfrm>
            <a:off x="6096000" y="1714500"/>
            <a:ext cx="2476500" cy="2667000"/>
          </a:xfrm>
          <a:prstGeom prst="roundRect">
            <a:avLst>
              <a:gd fmla="val 384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68" name="Google Shape;168;p19"/>
          <p:cNvPicPr preferRelativeResize="0"/>
          <p:nvPr/>
        </p:nvPicPr>
        <p:blipFill rotWithShape="1">
          <a:blip r:embed="rId5">
            <a:alphaModFix/>
          </a:blip>
          <a:srcRect b="0" l="0" r="0" t="0"/>
          <a:stretch/>
        </p:blipFill>
        <p:spPr>
          <a:xfrm>
            <a:off x="6286500" y="1905000"/>
            <a:ext cx="457200" cy="457200"/>
          </a:xfrm>
          <a:prstGeom prst="rect">
            <a:avLst/>
          </a:prstGeom>
          <a:noFill/>
          <a:ln>
            <a:noFill/>
          </a:ln>
        </p:spPr>
      </p:pic>
      <p:sp>
        <p:nvSpPr>
          <p:cNvPr id="169" name="Google Shape;169;p19"/>
          <p:cNvSpPr/>
          <p:nvPr/>
        </p:nvSpPr>
        <p:spPr>
          <a:xfrm>
            <a:off x="6286500" y="2428875"/>
            <a:ext cx="2095500" cy="333375"/>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700" u="none" cap="none" strike="noStrike">
                <a:solidFill>
                  <a:srgbClr val="FFFFFF"/>
                </a:solidFill>
                <a:latin typeface="Poppins"/>
                <a:ea typeface="Poppins"/>
                <a:cs typeface="Poppins"/>
                <a:sym typeface="Poppins"/>
              </a:rPr>
              <a:t>Traceable</a:t>
            </a:r>
            <a:endParaRPr b="0" i="0" sz="800" u="none" cap="none" strike="noStrike">
              <a:solidFill>
                <a:srgbClr val="000000"/>
              </a:solidFill>
              <a:latin typeface="Arial"/>
              <a:ea typeface="Arial"/>
              <a:cs typeface="Arial"/>
              <a:sym typeface="Arial"/>
            </a:endParaRPr>
          </a:p>
        </p:txBody>
      </p:sp>
      <p:sp>
        <p:nvSpPr>
          <p:cNvPr id="170" name="Google Shape;170;p19"/>
          <p:cNvSpPr/>
          <p:nvPr/>
        </p:nvSpPr>
        <p:spPr>
          <a:xfrm>
            <a:off x="6286500" y="2809875"/>
            <a:ext cx="2095500" cy="1143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Document every step for full compliance and auditability, ensuring transparency at all levels.</a:t>
            </a:r>
            <a:endParaRPr b="0" i="0" sz="8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178" name="Shape 178"/>
        <p:cNvGrpSpPr/>
        <p:nvPr/>
      </p:nvGrpSpPr>
      <p:grpSpPr>
        <a:xfrm>
          <a:off x="0" y="0"/>
          <a:ext cx="0" cy="0"/>
          <a:chOff x="0" y="0"/>
          <a:chExt cx="0" cy="0"/>
        </a:xfrm>
      </p:grpSpPr>
      <p:sp>
        <p:nvSpPr>
          <p:cNvPr id="179" name="Google Shape;179;p20"/>
          <p:cNvSpPr/>
          <p:nvPr/>
        </p:nvSpPr>
        <p:spPr>
          <a:xfrm>
            <a:off x="571500" y="476250"/>
            <a:ext cx="8001000" cy="4762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2700" u="none" cap="none" strike="noStrike">
                <a:solidFill>
                  <a:srgbClr val="00BFFF"/>
                </a:solidFill>
                <a:latin typeface="Poppins"/>
                <a:ea typeface="Poppins"/>
                <a:cs typeface="Poppins"/>
                <a:sym typeface="Poppins"/>
              </a:rPr>
              <a:t>Core Capability 2: Adaptive Form Experience</a:t>
            </a:r>
            <a:endParaRPr b="0" i="0" sz="800" u="none" cap="none" strike="noStrike">
              <a:solidFill>
                <a:srgbClr val="000000"/>
              </a:solidFill>
              <a:latin typeface="Arial"/>
              <a:ea typeface="Arial"/>
              <a:cs typeface="Arial"/>
              <a:sym typeface="Arial"/>
            </a:endParaRPr>
          </a:p>
        </p:txBody>
      </p:sp>
      <p:sp>
        <p:nvSpPr>
          <p:cNvPr id="180" name="Google Shape;180;p20"/>
          <p:cNvSpPr/>
          <p:nvPr/>
        </p:nvSpPr>
        <p:spPr>
          <a:xfrm>
            <a:off x="571500" y="1047750"/>
            <a:ext cx="800100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500" u="none" cap="none" strike="noStrike">
                <a:solidFill>
                  <a:srgbClr val="FFFFFF"/>
                </a:solidFill>
                <a:latin typeface="Roboto"/>
                <a:ea typeface="Roboto"/>
                <a:cs typeface="Roboto"/>
                <a:sym typeface="Roboto"/>
              </a:rPr>
              <a:t>Empowering business teams to respond to change in days, not months.</a:t>
            </a:r>
            <a:endParaRPr b="0" i="0" sz="800" u="none" cap="none" strike="noStrike">
              <a:solidFill>
                <a:srgbClr val="000000"/>
              </a:solidFill>
              <a:latin typeface="Arial"/>
              <a:ea typeface="Arial"/>
              <a:cs typeface="Arial"/>
              <a:sym typeface="Arial"/>
            </a:endParaRPr>
          </a:p>
        </p:txBody>
      </p:sp>
      <p:sp>
        <p:nvSpPr>
          <p:cNvPr id="181" name="Google Shape;181;p20"/>
          <p:cNvSpPr/>
          <p:nvPr/>
        </p:nvSpPr>
        <p:spPr>
          <a:xfrm>
            <a:off x="571500" y="1714500"/>
            <a:ext cx="2476500" cy="2667000"/>
          </a:xfrm>
          <a:prstGeom prst="roundRect">
            <a:avLst>
              <a:gd fmla="val 384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82" name="Google Shape;182;p20"/>
          <p:cNvPicPr preferRelativeResize="0"/>
          <p:nvPr/>
        </p:nvPicPr>
        <p:blipFill rotWithShape="1">
          <a:blip r:embed="rId3">
            <a:alphaModFix/>
          </a:blip>
          <a:srcRect b="0" l="0" r="0" t="0"/>
          <a:stretch/>
        </p:blipFill>
        <p:spPr>
          <a:xfrm>
            <a:off x="809625" y="2000250"/>
            <a:ext cx="457200" cy="457200"/>
          </a:xfrm>
          <a:prstGeom prst="rect">
            <a:avLst/>
          </a:prstGeom>
          <a:noFill/>
          <a:ln>
            <a:noFill/>
          </a:ln>
        </p:spPr>
      </p:pic>
      <p:sp>
        <p:nvSpPr>
          <p:cNvPr id="183" name="Google Shape;183;p20"/>
          <p:cNvSpPr/>
          <p:nvPr/>
        </p:nvSpPr>
        <p:spPr>
          <a:xfrm>
            <a:off x="809625" y="2571750"/>
            <a:ext cx="2000250" cy="333375"/>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Rapid Creation</a:t>
            </a:r>
            <a:endParaRPr b="0" i="0" sz="800" u="none" cap="none" strike="noStrike">
              <a:solidFill>
                <a:srgbClr val="000000"/>
              </a:solidFill>
              <a:latin typeface="Arial"/>
              <a:ea typeface="Arial"/>
              <a:cs typeface="Arial"/>
              <a:sym typeface="Arial"/>
            </a:endParaRPr>
          </a:p>
        </p:txBody>
      </p:sp>
      <p:sp>
        <p:nvSpPr>
          <p:cNvPr id="184" name="Google Shape;184;p20"/>
          <p:cNvSpPr/>
          <p:nvPr/>
        </p:nvSpPr>
        <p:spPr>
          <a:xfrm>
            <a:off x="809625" y="2952750"/>
            <a:ext cx="2000250" cy="1143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Business users can build and design forms independently without relying on IT support.</a:t>
            </a:r>
            <a:endParaRPr b="0" i="0" sz="800" u="none" cap="none" strike="noStrike">
              <a:solidFill>
                <a:srgbClr val="000000"/>
              </a:solidFill>
              <a:latin typeface="Arial"/>
              <a:ea typeface="Arial"/>
              <a:cs typeface="Arial"/>
              <a:sym typeface="Arial"/>
            </a:endParaRPr>
          </a:p>
        </p:txBody>
      </p:sp>
      <p:sp>
        <p:nvSpPr>
          <p:cNvPr id="185" name="Google Shape;185;p20"/>
          <p:cNvSpPr/>
          <p:nvPr/>
        </p:nvSpPr>
        <p:spPr>
          <a:xfrm>
            <a:off x="3333750" y="1714500"/>
            <a:ext cx="2476500" cy="2667000"/>
          </a:xfrm>
          <a:prstGeom prst="roundRect">
            <a:avLst>
              <a:gd fmla="val 384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86" name="Google Shape;186;p20"/>
          <p:cNvPicPr preferRelativeResize="0"/>
          <p:nvPr/>
        </p:nvPicPr>
        <p:blipFill rotWithShape="1">
          <a:blip r:embed="rId4">
            <a:alphaModFix/>
          </a:blip>
          <a:srcRect b="0" l="0" r="0" t="0"/>
          <a:stretch/>
        </p:blipFill>
        <p:spPr>
          <a:xfrm>
            <a:off x="3571875" y="2000250"/>
            <a:ext cx="457200" cy="457200"/>
          </a:xfrm>
          <a:prstGeom prst="rect">
            <a:avLst/>
          </a:prstGeom>
          <a:noFill/>
          <a:ln>
            <a:noFill/>
          </a:ln>
        </p:spPr>
      </p:pic>
      <p:sp>
        <p:nvSpPr>
          <p:cNvPr id="187" name="Google Shape;187;p20"/>
          <p:cNvSpPr/>
          <p:nvPr/>
        </p:nvSpPr>
        <p:spPr>
          <a:xfrm>
            <a:off x="3571875" y="2571750"/>
            <a:ext cx="2000250" cy="333375"/>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Dynamic Adjustment</a:t>
            </a:r>
            <a:endParaRPr b="0" i="0" sz="800" u="none" cap="none" strike="noStrike">
              <a:solidFill>
                <a:srgbClr val="000000"/>
              </a:solidFill>
              <a:latin typeface="Arial"/>
              <a:ea typeface="Arial"/>
              <a:cs typeface="Arial"/>
              <a:sym typeface="Arial"/>
            </a:endParaRPr>
          </a:p>
        </p:txBody>
      </p:sp>
      <p:sp>
        <p:nvSpPr>
          <p:cNvPr id="188" name="Google Shape;188;p20"/>
          <p:cNvSpPr/>
          <p:nvPr/>
        </p:nvSpPr>
        <p:spPr>
          <a:xfrm>
            <a:off x="3571875" y="2952750"/>
            <a:ext cx="2000250" cy="1143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Easily modify fields, logic, and layout on the fly as business needs evolve.</a:t>
            </a:r>
            <a:endParaRPr b="0" i="0" sz="800" u="none" cap="none" strike="noStrike">
              <a:solidFill>
                <a:srgbClr val="000000"/>
              </a:solidFill>
              <a:latin typeface="Arial"/>
              <a:ea typeface="Arial"/>
              <a:cs typeface="Arial"/>
              <a:sym typeface="Arial"/>
            </a:endParaRPr>
          </a:p>
        </p:txBody>
      </p:sp>
      <p:sp>
        <p:nvSpPr>
          <p:cNvPr id="189" name="Google Shape;189;p20"/>
          <p:cNvSpPr/>
          <p:nvPr/>
        </p:nvSpPr>
        <p:spPr>
          <a:xfrm>
            <a:off x="6096000" y="1714500"/>
            <a:ext cx="2476500" cy="2667000"/>
          </a:xfrm>
          <a:prstGeom prst="roundRect">
            <a:avLst>
              <a:gd fmla="val 384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190" name="Google Shape;190;p20"/>
          <p:cNvPicPr preferRelativeResize="0"/>
          <p:nvPr/>
        </p:nvPicPr>
        <p:blipFill rotWithShape="1">
          <a:blip r:embed="rId5">
            <a:alphaModFix/>
          </a:blip>
          <a:srcRect b="0" l="0" r="0" t="0"/>
          <a:stretch/>
        </p:blipFill>
        <p:spPr>
          <a:xfrm>
            <a:off x="6334125" y="2000250"/>
            <a:ext cx="457200" cy="457200"/>
          </a:xfrm>
          <a:prstGeom prst="rect">
            <a:avLst/>
          </a:prstGeom>
          <a:noFill/>
          <a:ln>
            <a:noFill/>
          </a:ln>
        </p:spPr>
      </p:pic>
      <p:sp>
        <p:nvSpPr>
          <p:cNvPr id="191" name="Google Shape;191;p20"/>
          <p:cNvSpPr/>
          <p:nvPr/>
        </p:nvSpPr>
        <p:spPr>
          <a:xfrm>
            <a:off x="6334125" y="2571750"/>
            <a:ext cx="2000250" cy="333375"/>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Faster Time-to-Value</a:t>
            </a:r>
            <a:endParaRPr b="0" i="0" sz="800" u="none" cap="none" strike="noStrike">
              <a:solidFill>
                <a:srgbClr val="000000"/>
              </a:solidFill>
              <a:latin typeface="Arial"/>
              <a:ea typeface="Arial"/>
              <a:cs typeface="Arial"/>
              <a:sym typeface="Arial"/>
            </a:endParaRPr>
          </a:p>
        </p:txBody>
      </p:sp>
      <p:sp>
        <p:nvSpPr>
          <p:cNvPr id="192" name="Google Shape;192;p20"/>
          <p:cNvSpPr/>
          <p:nvPr/>
        </p:nvSpPr>
        <p:spPr>
          <a:xfrm>
            <a:off x="6334125" y="2952750"/>
            <a:ext cx="2000250" cy="1143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Launch new workflows in days instead of weeks, accelerating business outcomes.</a:t>
            </a:r>
            <a:endParaRPr b="0" i="0" sz="8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200" name="Shape 200"/>
        <p:cNvGrpSpPr/>
        <p:nvPr/>
      </p:nvGrpSpPr>
      <p:grpSpPr>
        <a:xfrm>
          <a:off x="0" y="0"/>
          <a:ext cx="0" cy="0"/>
          <a:chOff x="0" y="0"/>
          <a:chExt cx="0" cy="0"/>
        </a:xfrm>
      </p:grpSpPr>
      <p:sp>
        <p:nvSpPr>
          <p:cNvPr id="201" name="Google Shape;201;p21"/>
          <p:cNvSpPr/>
          <p:nvPr/>
        </p:nvSpPr>
        <p:spPr>
          <a:xfrm>
            <a:off x="571500" y="476250"/>
            <a:ext cx="8001000" cy="4762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2700" u="none" cap="none" strike="noStrike">
                <a:solidFill>
                  <a:srgbClr val="00BFFF"/>
                </a:solidFill>
                <a:latin typeface="Poppins"/>
                <a:ea typeface="Poppins"/>
                <a:cs typeface="Poppins"/>
                <a:sym typeface="Poppins"/>
              </a:rPr>
              <a:t>Core Capability 3: Open Data Foundation</a:t>
            </a:r>
            <a:endParaRPr b="0" i="0" sz="800" u="none" cap="none" strike="noStrike">
              <a:solidFill>
                <a:srgbClr val="000000"/>
              </a:solidFill>
              <a:latin typeface="Arial"/>
              <a:ea typeface="Arial"/>
              <a:cs typeface="Arial"/>
              <a:sym typeface="Arial"/>
            </a:endParaRPr>
          </a:p>
        </p:txBody>
      </p:sp>
      <p:sp>
        <p:nvSpPr>
          <p:cNvPr id="202" name="Google Shape;202;p21"/>
          <p:cNvSpPr/>
          <p:nvPr/>
        </p:nvSpPr>
        <p:spPr>
          <a:xfrm>
            <a:off x="571500" y="1047750"/>
            <a:ext cx="800100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500" u="none" cap="none" strike="noStrike">
                <a:solidFill>
                  <a:srgbClr val="FFFFFF"/>
                </a:solidFill>
                <a:latin typeface="Roboto"/>
                <a:ea typeface="Roboto"/>
                <a:cs typeface="Roboto"/>
                <a:sym typeface="Roboto"/>
              </a:rPr>
              <a:t>Ensuring data is a strategic asset, not a liability</a:t>
            </a:r>
            <a:endParaRPr b="0" i="0" sz="800" u="none" cap="none" strike="noStrike">
              <a:solidFill>
                <a:srgbClr val="000000"/>
              </a:solidFill>
              <a:latin typeface="Arial"/>
              <a:ea typeface="Arial"/>
              <a:cs typeface="Arial"/>
              <a:sym typeface="Arial"/>
            </a:endParaRPr>
          </a:p>
        </p:txBody>
      </p:sp>
      <p:sp>
        <p:nvSpPr>
          <p:cNvPr id="203" name="Google Shape;203;p21"/>
          <p:cNvSpPr/>
          <p:nvPr/>
        </p:nvSpPr>
        <p:spPr>
          <a:xfrm>
            <a:off x="571500" y="1619250"/>
            <a:ext cx="2476500" cy="2667000"/>
          </a:xfrm>
          <a:prstGeom prst="roundRect">
            <a:avLst>
              <a:gd fmla="val 384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204" name="Google Shape;204;p21"/>
          <p:cNvPicPr preferRelativeResize="0"/>
          <p:nvPr/>
        </p:nvPicPr>
        <p:blipFill rotWithShape="1">
          <a:blip r:embed="rId3">
            <a:alphaModFix/>
          </a:blip>
          <a:srcRect b="0" l="0" r="0" t="0"/>
          <a:stretch/>
        </p:blipFill>
        <p:spPr>
          <a:xfrm>
            <a:off x="809625" y="1857375"/>
            <a:ext cx="457200" cy="457200"/>
          </a:xfrm>
          <a:prstGeom prst="rect">
            <a:avLst/>
          </a:prstGeom>
          <a:noFill/>
          <a:ln>
            <a:noFill/>
          </a:ln>
        </p:spPr>
      </p:pic>
      <p:sp>
        <p:nvSpPr>
          <p:cNvPr id="205" name="Google Shape;205;p21"/>
          <p:cNvSpPr/>
          <p:nvPr/>
        </p:nvSpPr>
        <p:spPr>
          <a:xfrm>
            <a:off x="809625" y="2428875"/>
            <a:ext cx="2000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Structured Models</a:t>
            </a:r>
            <a:endParaRPr b="0" i="0" sz="800" u="none" cap="none" strike="noStrike">
              <a:solidFill>
                <a:srgbClr val="000000"/>
              </a:solidFill>
              <a:latin typeface="Arial"/>
              <a:ea typeface="Arial"/>
              <a:cs typeface="Arial"/>
              <a:sym typeface="Arial"/>
            </a:endParaRPr>
          </a:p>
        </p:txBody>
      </p:sp>
      <p:sp>
        <p:nvSpPr>
          <p:cNvPr id="206" name="Google Shape;206;p21"/>
          <p:cNvSpPr/>
          <p:nvPr/>
        </p:nvSpPr>
        <p:spPr>
          <a:xfrm>
            <a:off x="809625" y="2762250"/>
            <a:ext cx="2000250" cy="1143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Organized data architecture that supports advanced analytics and enables better, data-driven decision-making.</a:t>
            </a:r>
            <a:endParaRPr b="0" i="0" sz="800" u="none" cap="none" strike="noStrike">
              <a:solidFill>
                <a:srgbClr val="000000"/>
              </a:solidFill>
              <a:latin typeface="Arial"/>
              <a:ea typeface="Arial"/>
              <a:cs typeface="Arial"/>
              <a:sym typeface="Arial"/>
            </a:endParaRPr>
          </a:p>
        </p:txBody>
      </p:sp>
      <p:sp>
        <p:nvSpPr>
          <p:cNvPr id="207" name="Google Shape;207;p21"/>
          <p:cNvSpPr/>
          <p:nvPr/>
        </p:nvSpPr>
        <p:spPr>
          <a:xfrm>
            <a:off x="3333750" y="1619250"/>
            <a:ext cx="2476500" cy="2667000"/>
          </a:xfrm>
          <a:prstGeom prst="roundRect">
            <a:avLst>
              <a:gd fmla="val 384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208" name="Google Shape;208;p21"/>
          <p:cNvPicPr preferRelativeResize="0"/>
          <p:nvPr/>
        </p:nvPicPr>
        <p:blipFill rotWithShape="1">
          <a:blip r:embed="rId4">
            <a:alphaModFix/>
          </a:blip>
          <a:srcRect b="0" l="0" r="0" t="0"/>
          <a:stretch/>
        </p:blipFill>
        <p:spPr>
          <a:xfrm>
            <a:off x="3571875" y="1857375"/>
            <a:ext cx="457200" cy="457200"/>
          </a:xfrm>
          <a:prstGeom prst="rect">
            <a:avLst/>
          </a:prstGeom>
          <a:noFill/>
          <a:ln>
            <a:noFill/>
          </a:ln>
        </p:spPr>
      </p:pic>
      <p:sp>
        <p:nvSpPr>
          <p:cNvPr id="209" name="Google Shape;209;p21"/>
          <p:cNvSpPr/>
          <p:nvPr/>
        </p:nvSpPr>
        <p:spPr>
          <a:xfrm>
            <a:off x="3571875" y="2428875"/>
            <a:ext cx="2000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Integration-Ready</a:t>
            </a:r>
            <a:endParaRPr b="0" i="0" sz="800" u="none" cap="none" strike="noStrike">
              <a:solidFill>
                <a:srgbClr val="000000"/>
              </a:solidFill>
              <a:latin typeface="Arial"/>
              <a:ea typeface="Arial"/>
              <a:cs typeface="Arial"/>
              <a:sym typeface="Arial"/>
            </a:endParaRPr>
          </a:p>
        </p:txBody>
      </p:sp>
      <p:sp>
        <p:nvSpPr>
          <p:cNvPr id="210" name="Google Shape;210;p21"/>
          <p:cNvSpPr/>
          <p:nvPr/>
        </p:nvSpPr>
        <p:spPr>
          <a:xfrm>
            <a:off x="3571875" y="2762250"/>
            <a:ext cx="2000250" cy="1143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Seamlessly connects with your existing systems and workflows, eliminating data silos and friction.</a:t>
            </a:r>
            <a:endParaRPr b="0" i="0" sz="800" u="none" cap="none" strike="noStrike">
              <a:solidFill>
                <a:srgbClr val="000000"/>
              </a:solidFill>
              <a:latin typeface="Arial"/>
              <a:ea typeface="Arial"/>
              <a:cs typeface="Arial"/>
              <a:sym typeface="Arial"/>
            </a:endParaRPr>
          </a:p>
        </p:txBody>
      </p:sp>
      <p:sp>
        <p:nvSpPr>
          <p:cNvPr id="211" name="Google Shape;211;p21"/>
          <p:cNvSpPr/>
          <p:nvPr/>
        </p:nvSpPr>
        <p:spPr>
          <a:xfrm>
            <a:off x="6096000" y="1619250"/>
            <a:ext cx="2476500" cy="2667000"/>
          </a:xfrm>
          <a:prstGeom prst="roundRect">
            <a:avLst>
              <a:gd fmla="val 384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212" name="Google Shape;212;p21"/>
          <p:cNvPicPr preferRelativeResize="0"/>
          <p:nvPr/>
        </p:nvPicPr>
        <p:blipFill rotWithShape="1">
          <a:blip r:embed="rId5">
            <a:alphaModFix/>
          </a:blip>
          <a:srcRect b="0" l="0" r="0" t="0"/>
          <a:stretch/>
        </p:blipFill>
        <p:spPr>
          <a:xfrm>
            <a:off x="6334125" y="1857375"/>
            <a:ext cx="457200" cy="457200"/>
          </a:xfrm>
          <a:prstGeom prst="rect">
            <a:avLst/>
          </a:prstGeom>
          <a:noFill/>
          <a:ln>
            <a:noFill/>
          </a:ln>
        </p:spPr>
      </p:pic>
      <p:sp>
        <p:nvSpPr>
          <p:cNvPr id="213" name="Google Shape;213;p21"/>
          <p:cNvSpPr/>
          <p:nvPr/>
        </p:nvSpPr>
        <p:spPr>
          <a:xfrm>
            <a:off x="6334125" y="2428875"/>
            <a:ext cx="2000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FFFFFF"/>
                </a:solidFill>
                <a:latin typeface="Roboto"/>
                <a:ea typeface="Roboto"/>
                <a:cs typeface="Roboto"/>
                <a:sym typeface="Roboto"/>
              </a:rPr>
              <a:t>Owner-Oriented</a:t>
            </a:r>
            <a:endParaRPr b="0" i="0" sz="800" u="none" cap="none" strike="noStrike">
              <a:solidFill>
                <a:srgbClr val="000000"/>
              </a:solidFill>
              <a:latin typeface="Arial"/>
              <a:ea typeface="Arial"/>
              <a:cs typeface="Arial"/>
              <a:sym typeface="Arial"/>
            </a:endParaRPr>
          </a:p>
        </p:txBody>
      </p:sp>
      <p:sp>
        <p:nvSpPr>
          <p:cNvPr id="214" name="Google Shape;214;p21"/>
          <p:cNvSpPr/>
          <p:nvPr/>
        </p:nvSpPr>
        <p:spPr>
          <a:xfrm>
            <a:off x="6334125" y="2762250"/>
            <a:ext cx="2000250" cy="1143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100" u="none" cap="none" strike="noStrike">
                <a:solidFill>
                  <a:srgbClr val="FFFFFF"/>
                </a:solidFill>
                <a:latin typeface="Roboto"/>
                <a:ea typeface="Roboto"/>
                <a:cs typeface="Roboto"/>
                <a:sym typeface="Roboto"/>
              </a:rPr>
              <a:t>Your data belongs to you, not the vendor. This ensures long-term flexibility and strategic control.</a:t>
            </a:r>
            <a:endParaRPr b="0" i="0" sz="8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222" name="Shape 222"/>
        <p:cNvGrpSpPr/>
        <p:nvPr/>
      </p:nvGrpSpPr>
      <p:grpSpPr>
        <a:xfrm>
          <a:off x="0" y="0"/>
          <a:ext cx="0" cy="0"/>
          <a:chOff x="0" y="0"/>
          <a:chExt cx="0" cy="0"/>
        </a:xfrm>
      </p:grpSpPr>
      <p:sp>
        <p:nvSpPr>
          <p:cNvPr id="223" name="Google Shape;223;p22"/>
          <p:cNvSpPr/>
          <p:nvPr/>
        </p:nvSpPr>
        <p:spPr>
          <a:xfrm>
            <a:off x="571500" y="476250"/>
            <a:ext cx="8001000" cy="4762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2700" u="none" cap="none" strike="noStrike">
                <a:solidFill>
                  <a:srgbClr val="00BFFF"/>
                </a:solidFill>
                <a:latin typeface="Poppins"/>
                <a:ea typeface="Poppins"/>
                <a:cs typeface="Poppins"/>
                <a:sym typeface="Poppins"/>
              </a:rPr>
              <a:t>The Next-Gen Difference</a:t>
            </a:r>
            <a:endParaRPr b="0" i="0" sz="800" u="none" cap="none" strike="noStrike">
              <a:solidFill>
                <a:srgbClr val="000000"/>
              </a:solidFill>
              <a:latin typeface="Arial"/>
              <a:ea typeface="Arial"/>
              <a:cs typeface="Arial"/>
              <a:sym typeface="Arial"/>
            </a:endParaRPr>
          </a:p>
        </p:txBody>
      </p:sp>
      <p:sp>
        <p:nvSpPr>
          <p:cNvPr id="224" name="Google Shape;224;p22"/>
          <p:cNvSpPr/>
          <p:nvPr/>
        </p:nvSpPr>
        <p:spPr>
          <a:xfrm>
            <a:off x="571500" y="1238250"/>
            <a:ext cx="3810000" cy="3238500"/>
          </a:xfrm>
          <a:prstGeom prst="roundRect">
            <a:avLst>
              <a:gd fmla="val 2941" name="adj"/>
            </a:avLst>
          </a:prstGeom>
          <a:solidFill>
            <a:srgbClr val="FFFFFF">
              <a:alpha val="5098"/>
            </a:srgbClr>
          </a:solidFill>
          <a:ln cap="flat" cmpd="sng" w="12700">
            <a:solidFill>
              <a:srgbClr val="FFFFFF">
                <a:alpha val="1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225" name="Google Shape;225;p22"/>
          <p:cNvPicPr preferRelativeResize="0"/>
          <p:nvPr/>
        </p:nvPicPr>
        <p:blipFill rotWithShape="1">
          <a:blip r:embed="rId3">
            <a:alphaModFix/>
          </a:blip>
          <a:srcRect b="0" l="0" r="0" t="0"/>
          <a:stretch/>
        </p:blipFill>
        <p:spPr>
          <a:xfrm>
            <a:off x="762000" y="1428750"/>
            <a:ext cx="228600" cy="228600"/>
          </a:xfrm>
          <a:prstGeom prst="rect">
            <a:avLst/>
          </a:prstGeom>
          <a:noFill/>
          <a:ln>
            <a:noFill/>
          </a:ln>
        </p:spPr>
      </p:pic>
      <p:sp>
        <p:nvSpPr>
          <p:cNvPr id="226" name="Google Shape;226;p22"/>
          <p:cNvSpPr/>
          <p:nvPr/>
        </p:nvSpPr>
        <p:spPr>
          <a:xfrm>
            <a:off x="1047750" y="1409700"/>
            <a:ext cx="3143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9CA3AF"/>
                </a:solidFill>
                <a:latin typeface="Roboto"/>
                <a:ea typeface="Roboto"/>
                <a:cs typeface="Roboto"/>
                <a:sym typeface="Roboto"/>
              </a:rPr>
              <a:t>Traditional Low-Code</a:t>
            </a:r>
            <a:endParaRPr b="0" i="0" sz="800" u="none" cap="none" strike="noStrike">
              <a:solidFill>
                <a:srgbClr val="000000"/>
              </a:solidFill>
              <a:latin typeface="Arial"/>
              <a:ea typeface="Arial"/>
              <a:cs typeface="Arial"/>
              <a:sym typeface="Arial"/>
            </a:endParaRPr>
          </a:p>
        </p:txBody>
      </p:sp>
      <p:cxnSp>
        <p:nvCxnSpPr>
          <p:cNvPr id="227" name="Google Shape;227;p22"/>
          <p:cNvCxnSpPr/>
          <p:nvPr/>
        </p:nvCxnSpPr>
        <p:spPr>
          <a:xfrm rot="-9549">
            <a:off x="762007" y="1757362"/>
            <a:ext cx="3429000" cy="9525"/>
          </a:xfrm>
          <a:prstGeom prst="straightConnector1">
            <a:avLst/>
          </a:prstGeom>
          <a:solidFill>
            <a:srgbClr val="DEE0E3"/>
          </a:solidFill>
          <a:ln cap="flat" cmpd="sng" w="12700">
            <a:solidFill>
              <a:srgbClr val="FFFFFF">
                <a:alpha val="10196"/>
              </a:srgbClr>
            </a:solidFill>
            <a:prstDash val="solid"/>
            <a:round/>
            <a:headEnd len="sm" w="sm" type="none"/>
            <a:tailEnd len="sm" w="sm" type="none"/>
          </a:ln>
        </p:spPr>
      </p:cxnSp>
      <p:pic>
        <p:nvPicPr>
          <p:cNvPr id="228" name="Google Shape;228;p22"/>
          <p:cNvPicPr preferRelativeResize="0"/>
          <p:nvPr/>
        </p:nvPicPr>
        <p:blipFill rotWithShape="1">
          <a:blip r:embed="rId4">
            <a:alphaModFix/>
          </a:blip>
          <a:srcRect b="0" l="0" r="0" t="0"/>
          <a:stretch/>
        </p:blipFill>
        <p:spPr>
          <a:xfrm>
            <a:off x="762000" y="1952625"/>
            <a:ext cx="190500" cy="190500"/>
          </a:xfrm>
          <a:prstGeom prst="rect">
            <a:avLst/>
          </a:prstGeom>
          <a:noFill/>
          <a:ln>
            <a:noFill/>
          </a:ln>
        </p:spPr>
      </p:pic>
      <p:sp>
        <p:nvSpPr>
          <p:cNvPr id="229" name="Google Shape;229;p22"/>
          <p:cNvSpPr/>
          <p:nvPr/>
        </p:nvSpPr>
        <p:spPr>
          <a:xfrm>
            <a:off x="1047750" y="1924050"/>
            <a:ext cx="314325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D1D5DB"/>
                </a:solidFill>
                <a:latin typeface="Roboto"/>
                <a:ea typeface="Roboto"/>
                <a:cs typeface="Roboto"/>
                <a:sym typeface="Roboto"/>
              </a:rPr>
              <a:t>Focus on Development Efficiency</a:t>
            </a:r>
            <a:endParaRPr b="0" i="0" sz="800" u="none" cap="none" strike="noStrike">
              <a:solidFill>
                <a:srgbClr val="000000"/>
              </a:solidFill>
              <a:latin typeface="Arial"/>
              <a:ea typeface="Arial"/>
              <a:cs typeface="Arial"/>
              <a:sym typeface="Arial"/>
            </a:endParaRPr>
          </a:p>
        </p:txBody>
      </p:sp>
      <p:pic>
        <p:nvPicPr>
          <p:cNvPr id="230" name="Google Shape;230;p22"/>
          <p:cNvPicPr preferRelativeResize="0"/>
          <p:nvPr/>
        </p:nvPicPr>
        <p:blipFill rotWithShape="1">
          <a:blip r:embed="rId5">
            <a:alphaModFix/>
          </a:blip>
          <a:srcRect b="0" l="0" r="0" t="0"/>
          <a:stretch/>
        </p:blipFill>
        <p:spPr>
          <a:xfrm>
            <a:off x="762000" y="2381250"/>
            <a:ext cx="190500" cy="190500"/>
          </a:xfrm>
          <a:prstGeom prst="rect">
            <a:avLst/>
          </a:prstGeom>
          <a:noFill/>
          <a:ln>
            <a:noFill/>
          </a:ln>
        </p:spPr>
      </p:pic>
      <p:sp>
        <p:nvSpPr>
          <p:cNvPr id="231" name="Google Shape;231;p22"/>
          <p:cNvSpPr/>
          <p:nvPr/>
        </p:nvSpPr>
        <p:spPr>
          <a:xfrm>
            <a:off x="1047750" y="2352675"/>
            <a:ext cx="314325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D1D5DB"/>
                </a:solidFill>
                <a:latin typeface="Roboto"/>
                <a:ea typeface="Roboto"/>
                <a:cs typeface="Roboto"/>
                <a:sym typeface="Roboto"/>
              </a:rPr>
              <a:t>License-Driven Scaling Costs</a:t>
            </a:r>
            <a:endParaRPr b="0" i="0" sz="800" u="none" cap="none" strike="noStrike">
              <a:solidFill>
                <a:srgbClr val="000000"/>
              </a:solidFill>
              <a:latin typeface="Arial"/>
              <a:ea typeface="Arial"/>
              <a:cs typeface="Arial"/>
              <a:sym typeface="Arial"/>
            </a:endParaRPr>
          </a:p>
        </p:txBody>
      </p:sp>
      <p:pic>
        <p:nvPicPr>
          <p:cNvPr id="232" name="Google Shape;232;p22"/>
          <p:cNvPicPr preferRelativeResize="0"/>
          <p:nvPr/>
        </p:nvPicPr>
        <p:blipFill rotWithShape="1">
          <a:blip r:embed="rId6">
            <a:alphaModFix/>
          </a:blip>
          <a:srcRect b="0" l="0" r="0" t="0"/>
          <a:stretch/>
        </p:blipFill>
        <p:spPr>
          <a:xfrm>
            <a:off x="762000" y="2809875"/>
            <a:ext cx="190500" cy="190500"/>
          </a:xfrm>
          <a:prstGeom prst="rect">
            <a:avLst/>
          </a:prstGeom>
          <a:noFill/>
          <a:ln>
            <a:noFill/>
          </a:ln>
        </p:spPr>
      </p:pic>
      <p:sp>
        <p:nvSpPr>
          <p:cNvPr id="233" name="Google Shape;233;p22"/>
          <p:cNvSpPr/>
          <p:nvPr/>
        </p:nvSpPr>
        <p:spPr>
          <a:xfrm>
            <a:off x="1047750" y="2781300"/>
            <a:ext cx="314325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D1D5DB"/>
                </a:solidFill>
                <a:latin typeface="Roboto"/>
                <a:ea typeface="Roboto"/>
                <a:cs typeface="Roboto"/>
                <a:sym typeface="Roboto"/>
              </a:rPr>
              <a:t>Black-Box Automation</a:t>
            </a:r>
            <a:endParaRPr b="0" i="0" sz="800" u="none" cap="none" strike="noStrike">
              <a:solidFill>
                <a:srgbClr val="000000"/>
              </a:solidFill>
              <a:latin typeface="Arial"/>
              <a:ea typeface="Arial"/>
              <a:cs typeface="Arial"/>
              <a:sym typeface="Arial"/>
            </a:endParaRPr>
          </a:p>
        </p:txBody>
      </p:sp>
      <p:pic>
        <p:nvPicPr>
          <p:cNvPr id="234" name="Google Shape;234;p22"/>
          <p:cNvPicPr preferRelativeResize="0"/>
          <p:nvPr/>
        </p:nvPicPr>
        <p:blipFill rotWithShape="1">
          <a:blip r:embed="rId7">
            <a:alphaModFix/>
          </a:blip>
          <a:srcRect b="0" l="0" r="0" t="0"/>
          <a:stretch/>
        </p:blipFill>
        <p:spPr>
          <a:xfrm>
            <a:off x="762000" y="3238500"/>
            <a:ext cx="190500" cy="190500"/>
          </a:xfrm>
          <a:prstGeom prst="rect">
            <a:avLst/>
          </a:prstGeom>
          <a:noFill/>
          <a:ln>
            <a:noFill/>
          </a:ln>
        </p:spPr>
      </p:pic>
      <p:sp>
        <p:nvSpPr>
          <p:cNvPr id="235" name="Google Shape;235;p22"/>
          <p:cNvSpPr/>
          <p:nvPr/>
        </p:nvSpPr>
        <p:spPr>
          <a:xfrm>
            <a:off x="1047750" y="3209925"/>
            <a:ext cx="314325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D1D5DB"/>
                </a:solidFill>
                <a:latin typeface="Roboto"/>
                <a:ea typeface="Roboto"/>
                <a:cs typeface="Roboto"/>
                <a:sym typeface="Roboto"/>
              </a:rPr>
              <a:t>Vendor-Owned Data</a:t>
            </a:r>
            <a:endParaRPr b="0" i="0" sz="800" u="none" cap="none" strike="noStrike">
              <a:solidFill>
                <a:srgbClr val="000000"/>
              </a:solidFill>
              <a:latin typeface="Arial"/>
              <a:ea typeface="Arial"/>
              <a:cs typeface="Arial"/>
              <a:sym typeface="Arial"/>
            </a:endParaRPr>
          </a:p>
        </p:txBody>
      </p:sp>
      <p:sp>
        <p:nvSpPr>
          <p:cNvPr id="236" name="Google Shape;236;p22"/>
          <p:cNvSpPr/>
          <p:nvPr/>
        </p:nvSpPr>
        <p:spPr>
          <a:xfrm>
            <a:off x="4762500" y="1238250"/>
            <a:ext cx="3810000" cy="3238500"/>
          </a:xfrm>
          <a:prstGeom prst="roundRect">
            <a:avLst>
              <a:gd fmla="val 2941" name="adj"/>
            </a:avLst>
          </a:prstGeom>
          <a:solidFill>
            <a:srgbClr val="00BFFF">
              <a:alpha val="10196"/>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237" name="Google Shape;237;p22"/>
          <p:cNvPicPr preferRelativeResize="0"/>
          <p:nvPr/>
        </p:nvPicPr>
        <p:blipFill rotWithShape="1">
          <a:blip r:embed="rId8">
            <a:alphaModFix/>
          </a:blip>
          <a:srcRect b="0" l="0" r="0" t="0"/>
          <a:stretch/>
        </p:blipFill>
        <p:spPr>
          <a:xfrm>
            <a:off x="4953000" y="1428750"/>
            <a:ext cx="228600" cy="228600"/>
          </a:xfrm>
          <a:prstGeom prst="rect">
            <a:avLst/>
          </a:prstGeom>
          <a:noFill/>
          <a:ln>
            <a:noFill/>
          </a:ln>
        </p:spPr>
      </p:pic>
      <p:sp>
        <p:nvSpPr>
          <p:cNvPr id="238" name="Google Shape;238;p22"/>
          <p:cNvSpPr/>
          <p:nvPr/>
        </p:nvSpPr>
        <p:spPr>
          <a:xfrm>
            <a:off x="5238750" y="1409700"/>
            <a:ext cx="3143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500" u="none" cap="none" strike="noStrike">
                <a:solidFill>
                  <a:srgbClr val="00BFFF"/>
                </a:solidFill>
                <a:latin typeface="Roboto"/>
                <a:ea typeface="Roboto"/>
                <a:cs typeface="Roboto"/>
                <a:sym typeface="Roboto"/>
              </a:rPr>
              <a:t>Our Next-Gen Solution</a:t>
            </a:r>
            <a:endParaRPr b="0" i="0" sz="800" u="none" cap="none" strike="noStrike">
              <a:solidFill>
                <a:srgbClr val="000000"/>
              </a:solidFill>
              <a:latin typeface="Arial"/>
              <a:ea typeface="Arial"/>
              <a:cs typeface="Arial"/>
              <a:sym typeface="Arial"/>
            </a:endParaRPr>
          </a:p>
        </p:txBody>
      </p:sp>
      <p:cxnSp>
        <p:nvCxnSpPr>
          <p:cNvPr id="239" name="Google Shape;239;p22"/>
          <p:cNvCxnSpPr/>
          <p:nvPr/>
        </p:nvCxnSpPr>
        <p:spPr>
          <a:xfrm rot="-9549">
            <a:off x="4953007" y="1757362"/>
            <a:ext cx="3429000" cy="9525"/>
          </a:xfrm>
          <a:prstGeom prst="straightConnector1">
            <a:avLst/>
          </a:prstGeom>
          <a:solidFill>
            <a:srgbClr val="DEE0E3"/>
          </a:solidFill>
          <a:ln cap="flat" cmpd="sng" w="12700">
            <a:solidFill>
              <a:srgbClr val="00BFFF">
                <a:alpha val="30196"/>
              </a:srgbClr>
            </a:solidFill>
            <a:prstDash val="solid"/>
            <a:round/>
            <a:headEnd len="sm" w="sm" type="none"/>
            <a:tailEnd len="sm" w="sm" type="none"/>
          </a:ln>
        </p:spPr>
      </p:cxnSp>
      <p:pic>
        <p:nvPicPr>
          <p:cNvPr id="240" name="Google Shape;240;p22"/>
          <p:cNvPicPr preferRelativeResize="0"/>
          <p:nvPr/>
        </p:nvPicPr>
        <p:blipFill rotWithShape="1">
          <a:blip r:embed="rId9">
            <a:alphaModFix/>
          </a:blip>
          <a:srcRect b="0" l="0" r="0" t="0"/>
          <a:stretch/>
        </p:blipFill>
        <p:spPr>
          <a:xfrm>
            <a:off x="4953000" y="1952625"/>
            <a:ext cx="190500" cy="190500"/>
          </a:xfrm>
          <a:prstGeom prst="rect">
            <a:avLst/>
          </a:prstGeom>
          <a:noFill/>
          <a:ln>
            <a:noFill/>
          </a:ln>
        </p:spPr>
      </p:pic>
      <p:sp>
        <p:nvSpPr>
          <p:cNvPr id="241" name="Google Shape;241;p22"/>
          <p:cNvSpPr/>
          <p:nvPr/>
        </p:nvSpPr>
        <p:spPr>
          <a:xfrm>
            <a:off x="5238750" y="1924050"/>
            <a:ext cx="314325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Focus on</a:t>
            </a:r>
            <a:r>
              <a:rPr b="1" i="0" lang="en" sz="1200" u="none" cap="none" strike="noStrike">
                <a:solidFill>
                  <a:srgbClr val="FFD700"/>
                </a:solidFill>
                <a:latin typeface="Roboto"/>
                <a:ea typeface="Roboto"/>
                <a:cs typeface="Roboto"/>
                <a:sym typeface="Roboto"/>
              </a:rPr>
              <a:t>Architectural Openness</a:t>
            </a:r>
            <a:r>
              <a:rPr b="0" i="0" lang="en" sz="1200" u="none" cap="none" strike="noStrike">
                <a:solidFill>
                  <a:srgbClr val="FFFFFF"/>
                </a:solidFill>
                <a:latin typeface="Roboto"/>
                <a:ea typeface="Roboto"/>
                <a:cs typeface="Roboto"/>
                <a:sym typeface="Roboto"/>
              </a:rPr>
              <a:t>&amp; Long-Term Sustainability</a:t>
            </a:r>
            <a:endParaRPr b="0" i="0" sz="800" u="none" cap="none" strike="noStrike">
              <a:solidFill>
                <a:srgbClr val="000000"/>
              </a:solidFill>
              <a:latin typeface="Arial"/>
              <a:ea typeface="Arial"/>
              <a:cs typeface="Arial"/>
              <a:sym typeface="Arial"/>
            </a:endParaRPr>
          </a:p>
        </p:txBody>
      </p:sp>
      <p:pic>
        <p:nvPicPr>
          <p:cNvPr id="242" name="Google Shape;242;p22"/>
          <p:cNvPicPr preferRelativeResize="0"/>
          <p:nvPr/>
        </p:nvPicPr>
        <p:blipFill rotWithShape="1">
          <a:blip r:embed="rId10">
            <a:alphaModFix/>
          </a:blip>
          <a:srcRect b="0" l="0" r="0" t="0"/>
          <a:stretch/>
        </p:blipFill>
        <p:spPr>
          <a:xfrm>
            <a:off x="4953000" y="2381250"/>
            <a:ext cx="190500" cy="190500"/>
          </a:xfrm>
          <a:prstGeom prst="rect">
            <a:avLst/>
          </a:prstGeom>
          <a:noFill/>
          <a:ln>
            <a:noFill/>
          </a:ln>
        </p:spPr>
      </p:pic>
      <p:sp>
        <p:nvSpPr>
          <p:cNvPr id="243" name="Google Shape;243;p22"/>
          <p:cNvSpPr/>
          <p:nvPr/>
        </p:nvSpPr>
        <p:spPr>
          <a:xfrm>
            <a:off x="5238750" y="2352675"/>
            <a:ext cx="314325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Open, Extensible Tech Stack</a:t>
            </a:r>
            <a:endParaRPr b="0" i="0" sz="800" u="none" cap="none" strike="noStrike">
              <a:solidFill>
                <a:srgbClr val="000000"/>
              </a:solidFill>
              <a:latin typeface="Arial"/>
              <a:ea typeface="Arial"/>
              <a:cs typeface="Arial"/>
              <a:sym typeface="Arial"/>
            </a:endParaRPr>
          </a:p>
        </p:txBody>
      </p:sp>
      <p:pic>
        <p:nvPicPr>
          <p:cNvPr id="244" name="Google Shape;244;p22"/>
          <p:cNvPicPr preferRelativeResize="0"/>
          <p:nvPr/>
        </p:nvPicPr>
        <p:blipFill rotWithShape="1">
          <a:blip r:embed="rId11">
            <a:alphaModFix/>
          </a:blip>
          <a:srcRect b="0" l="0" r="0" t="0"/>
          <a:stretch/>
        </p:blipFill>
        <p:spPr>
          <a:xfrm>
            <a:off x="4953000" y="2809875"/>
            <a:ext cx="190500" cy="190500"/>
          </a:xfrm>
          <a:prstGeom prst="rect">
            <a:avLst/>
          </a:prstGeom>
          <a:noFill/>
          <a:ln>
            <a:noFill/>
          </a:ln>
        </p:spPr>
      </p:pic>
      <p:sp>
        <p:nvSpPr>
          <p:cNvPr id="245" name="Google Shape;245;p22"/>
          <p:cNvSpPr/>
          <p:nvPr/>
        </p:nvSpPr>
        <p:spPr>
          <a:xfrm>
            <a:off x="5238750" y="2781300"/>
            <a:ext cx="314325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Transparent, Governable Processes</a:t>
            </a:r>
            <a:endParaRPr b="0" i="0" sz="800" u="none" cap="none" strike="noStrike">
              <a:solidFill>
                <a:srgbClr val="000000"/>
              </a:solidFill>
              <a:latin typeface="Arial"/>
              <a:ea typeface="Arial"/>
              <a:cs typeface="Arial"/>
              <a:sym typeface="Arial"/>
            </a:endParaRPr>
          </a:p>
        </p:txBody>
      </p:sp>
      <p:pic>
        <p:nvPicPr>
          <p:cNvPr id="246" name="Google Shape;246;p22"/>
          <p:cNvPicPr preferRelativeResize="0"/>
          <p:nvPr/>
        </p:nvPicPr>
        <p:blipFill rotWithShape="1">
          <a:blip r:embed="rId12">
            <a:alphaModFix/>
          </a:blip>
          <a:srcRect b="0" l="0" r="0" t="0"/>
          <a:stretch/>
        </p:blipFill>
        <p:spPr>
          <a:xfrm>
            <a:off x="4953000" y="3238500"/>
            <a:ext cx="190500" cy="190500"/>
          </a:xfrm>
          <a:prstGeom prst="rect">
            <a:avLst/>
          </a:prstGeom>
          <a:noFill/>
          <a:ln>
            <a:noFill/>
          </a:ln>
        </p:spPr>
      </p:pic>
      <p:sp>
        <p:nvSpPr>
          <p:cNvPr id="247" name="Google Shape;247;p22"/>
          <p:cNvSpPr/>
          <p:nvPr/>
        </p:nvSpPr>
        <p:spPr>
          <a:xfrm>
            <a:off x="5238750" y="3209925"/>
            <a:ext cx="314325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200" u="none" cap="none" strike="noStrike">
                <a:solidFill>
                  <a:srgbClr val="FFD700"/>
                </a:solidFill>
                <a:latin typeface="Roboto"/>
                <a:ea typeface="Roboto"/>
                <a:cs typeface="Roboto"/>
                <a:sym typeface="Roboto"/>
              </a:rPr>
              <a:t>Customer-Owned Data</a:t>
            </a:r>
            <a:endParaRPr b="0" i="0" sz="8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255" name="Shape 255"/>
        <p:cNvGrpSpPr/>
        <p:nvPr/>
      </p:nvGrpSpPr>
      <p:grpSpPr>
        <a:xfrm>
          <a:off x="0" y="0"/>
          <a:ext cx="0" cy="0"/>
          <a:chOff x="0" y="0"/>
          <a:chExt cx="0" cy="0"/>
        </a:xfrm>
      </p:grpSpPr>
      <p:sp>
        <p:nvSpPr>
          <p:cNvPr id="256" name="Google Shape;256;p23"/>
          <p:cNvSpPr/>
          <p:nvPr/>
        </p:nvSpPr>
        <p:spPr>
          <a:xfrm>
            <a:off x="571500" y="476250"/>
            <a:ext cx="8001000" cy="571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2700" u="none" cap="none" strike="noStrike">
                <a:solidFill>
                  <a:srgbClr val="00BFFF"/>
                </a:solidFill>
                <a:latin typeface="Poppins"/>
                <a:ea typeface="Poppins"/>
                <a:cs typeface="Poppins"/>
                <a:sym typeface="Poppins"/>
              </a:rPr>
              <a:t>Conclusion: A Foundation for the Future</a:t>
            </a:r>
            <a:endParaRPr b="0" i="0" sz="800" u="none" cap="none" strike="noStrike">
              <a:solidFill>
                <a:srgbClr val="000000"/>
              </a:solidFill>
              <a:latin typeface="Arial"/>
              <a:ea typeface="Arial"/>
              <a:cs typeface="Arial"/>
              <a:sym typeface="Arial"/>
            </a:endParaRPr>
          </a:p>
        </p:txBody>
      </p:sp>
      <p:sp>
        <p:nvSpPr>
          <p:cNvPr id="257" name="Google Shape;257;p23"/>
          <p:cNvSpPr/>
          <p:nvPr/>
        </p:nvSpPr>
        <p:spPr>
          <a:xfrm>
            <a:off x="571500" y="1333500"/>
            <a:ext cx="8001000" cy="381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500" u="none" cap="none" strike="noStrike">
                <a:solidFill>
                  <a:srgbClr val="FFFFFF"/>
                </a:solidFill>
                <a:latin typeface="Roboto"/>
                <a:ea typeface="Roboto"/>
                <a:cs typeface="Roboto"/>
                <a:sym typeface="Roboto"/>
              </a:rPr>
              <a:t>We are not just delivering a tool or a solution. We are building a future-ready ecosystem.</a:t>
            </a:r>
            <a:endParaRPr b="0" i="0" sz="800" u="none" cap="none" strike="noStrike">
              <a:solidFill>
                <a:srgbClr val="000000"/>
              </a:solidFill>
              <a:latin typeface="Arial"/>
              <a:ea typeface="Arial"/>
              <a:cs typeface="Arial"/>
              <a:sym typeface="Arial"/>
            </a:endParaRPr>
          </a:p>
        </p:txBody>
      </p:sp>
      <p:sp>
        <p:nvSpPr>
          <p:cNvPr id="258" name="Google Shape;258;p23"/>
          <p:cNvSpPr/>
          <p:nvPr/>
        </p:nvSpPr>
        <p:spPr>
          <a:xfrm>
            <a:off x="571500" y="2000250"/>
            <a:ext cx="2476500" cy="2286000"/>
          </a:xfrm>
          <a:prstGeom prst="roundRect">
            <a:avLst>
              <a:gd fmla="val 416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259" name="Google Shape;259;p23"/>
          <p:cNvPicPr preferRelativeResize="0"/>
          <p:nvPr/>
        </p:nvPicPr>
        <p:blipFill rotWithShape="1">
          <a:blip r:embed="rId3">
            <a:alphaModFix/>
          </a:blip>
          <a:srcRect b="0" l="0" r="0" t="0"/>
          <a:stretch/>
        </p:blipFill>
        <p:spPr>
          <a:xfrm>
            <a:off x="809625" y="2238375"/>
            <a:ext cx="457200" cy="457200"/>
          </a:xfrm>
          <a:prstGeom prst="rect">
            <a:avLst/>
          </a:prstGeom>
          <a:noFill/>
          <a:ln>
            <a:noFill/>
          </a:ln>
        </p:spPr>
      </p:pic>
      <p:sp>
        <p:nvSpPr>
          <p:cNvPr id="260" name="Google Shape;260;p23"/>
          <p:cNvSpPr/>
          <p:nvPr/>
        </p:nvSpPr>
        <p:spPr>
          <a:xfrm>
            <a:off x="809625" y="2809875"/>
            <a:ext cx="2000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700" u="none" cap="none" strike="noStrike">
                <a:solidFill>
                  <a:srgbClr val="FFFFFF"/>
                </a:solidFill>
                <a:latin typeface="Poppins"/>
                <a:ea typeface="Poppins"/>
                <a:cs typeface="Poppins"/>
                <a:sym typeface="Poppins"/>
              </a:rPr>
              <a:t>Scalable Growth</a:t>
            </a:r>
            <a:endParaRPr b="0" i="0" sz="800" u="none" cap="none" strike="noStrike">
              <a:solidFill>
                <a:srgbClr val="000000"/>
              </a:solidFill>
              <a:latin typeface="Arial"/>
              <a:ea typeface="Arial"/>
              <a:cs typeface="Arial"/>
              <a:sym typeface="Arial"/>
            </a:endParaRPr>
          </a:p>
        </p:txBody>
      </p:sp>
      <p:sp>
        <p:nvSpPr>
          <p:cNvPr id="261" name="Google Shape;261;p23"/>
          <p:cNvSpPr/>
          <p:nvPr/>
        </p:nvSpPr>
        <p:spPr>
          <a:xfrm>
            <a:off x="809625" y="3143250"/>
            <a:ext cx="2000250" cy="952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A system that grows with your business needs, ensuring flexibility and adaptability at every stage of expansion.</a:t>
            </a:r>
            <a:endParaRPr b="0" i="0" sz="800" u="none" cap="none" strike="noStrike">
              <a:solidFill>
                <a:srgbClr val="000000"/>
              </a:solidFill>
              <a:latin typeface="Arial"/>
              <a:ea typeface="Arial"/>
              <a:cs typeface="Arial"/>
              <a:sym typeface="Arial"/>
            </a:endParaRPr>
          </a:p>
        </p:txBody>
      </p:sp>
      <p:sp>
        <p:nvSpPr>
          <p:cNvPr id="262" name="Google Shape;262;p23"/>
          <p:cNvSpPr/>
          <p:nvPr/>
        </p:nvSpPr>
        <p:spPr>
          <a:xfrm>
            <a:off x="3333750" y="2000250"/>
            <a:ext cx="2476500" cy="2286000"/>
          </a:xfrm>
          <a:prstGeom prst="roundRect">
            <a:avLst>
              <a:gd fmla="val 416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263" name="Google Shape;263;p23"/>
          <p:cNvPicPr preferRelativeResize="0"/>
          <p:nvPr/>
        </p:nvPicPr>
        <p:blipFill rotWithShape="1">
          <a:blip r:embed="rId4">
            <a:alphaModFix/>
          </a:blip>
          <a:srcRect b="0" l="0" r="0" t="0"/>
          <a:stretch/>
        </p:blipFill>
        <p:spPr>
          <a:xfrm>
            <a:off x="3571875" y="2238375"/>
            <a:ext cx="457200" cy="457200"/>
          </a:xfrm>
          <a:prstGeom prst="rect">
            <a:avLst/>
          </a:prstGeom>
          <a:noFill/>
          <a:ln>
            <a:noFill/>
          </a:ln>
        </p:spPr>
      </p:pic>
      <p:sp>
        <p:nvSpPr>
          <p:cNvPr id="264" name="Google Shape;264;p23"/>
          <p:cNvSpPr/>
          <p:nvPr/>
        </p:nvSpPr>
        <p:spPr>
          <a:xfrm>
            <a:off x="3571875" y="2809875"/>
            <a:ext cx="2000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700" u="none" cap="none" strike="noStrike">
                <a:solidFill>
                  <a:srgbClr val="FFFFFF"/>
                </a:solidFill>
                <a:latin typeface="Poppins"/>
                <a:ea typeface="Poppins"/>
                <a:cs typeface="Poppins"/>
                <a:sym typeface="Poppins"/>
              </a:rPr>
              <a:t>Sustainable Operations</a:t>
            </a:r>
            <a:endParaRPr b="0" i="0" sz="800" u="none" cap="none" strike="noStrike">
              <a:solidFill>
                <a:srgbClr val="000000"/>
              </a:solidFill>
              <a:latin typeface="Arial"/>
              <a:ea typeface="Arial"/>
              <a:cs typeface="Arial"/>
              <a:sym typeface="Arial"/>
            </a:endParaRPr>
          </a:p>
        </p:txBody>
      </p:sp>
      <p:sp>
        <p:nvSpPr>
          <p:cNvPr id="265" name="Google Shape;265;p23"/>
          <p:cNvSpPr/>
          <p:nvPr/>
        </p:nvSpPr>
        <p:spPr>
          <a:xfrm>
            <a:off x="3571875" y="3143250"/>
            <a:ext cx="2000250" cy="952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Built to last, supporting your long-term strategic goals with a resilient and efficient digital infrastructure.</a:t>
            </a:r>
            <a:endParaRPr b="0" i="0" sz="800" u="none" cap="none" strike="noStrike">
              <a:solidFill>
                <a:srgbClr val="000000"/>
              </a:solidFill>
              <a:latin typeface="Arial"/>
              <a:ea typeface="Arial"/>
              <a:cs typeface="Arial"/>
              <a:sym typeface="Arial"/>
            </a:endParaRPr>
          </a:p>
        </p:txBody>
      </p:sp>
      <p:sp>
        <p:nvSpPr>
          <p:cNvPr id="266" name="Google Shape;266;p23"/>
          <p:cNvSpPr/>
          <p:nvPr/>
        </p:nvSpPr>
        <p:spPr>
          <a:xfrm>
            <a:off x="6096000" y="2000250"/>
            <a:ext cx="2476500" cy="2286000"/>
          </a:xfrm>
          <a:prstGeom prst="roundRect">
            <a:avLst>
              <a:gd fmla="val 4166" name="adj"/>
            </a:avLst>
          </a:prstGeom>
          <a:solidFill>
            <a:srgbClr val="FFFFFF">
              <a:alpha val="5098"/>
            </a:srgbClr>
          </a:solidFill>
          <a:ln cap="flat" cmpd="sng" w="12700">
            <a:solidFill>
              <a:srgbClr val="00BFFF">
                <a:alpha val="30196"/>
              </a:srgbClr>
            </a:solidFill>
            <a:prstDash val="solid"/>
            <a:round/>
            <a:headEnd len="sm" w="sm" type="none"/>
            <a:tailEnd len="sm" w="sm" type="none"/>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pic>
        <p:nvPicPr>
          <p:cNvPr id="267" name="Google Shape;267;p23"/>
          <p:cNvPicPr preferRelativeResize="0"/>
          <p:nvPr/>
        </p:nvPicPr>
        <p:blipFill rotWithShape="1">
          <a:blip r:embed="rId5">
            <a:alphaModFix/>
          </a:blip>
          <a:srcRect b="0" l="0" r="0" t="0"/>
          <a:stretch/>
        </p:blipFill>
        <p:spPr>
          <a:xfrm>
            <a:off x="6334125" y="2238375"/>
            <a:ext cx="457200" cy="457200"/>
          </a:xfrm>
          <a:prstGeom prst="rect">
            <a:avLst/>
          </a:prstGeom>
          <a:noFill/>
          <a:ln>
            <a:noFill/>
          </a:ln>
        </p:spPr>
      </p:pic>
      <p:sp>
        <p:nvSpPr>
          <p:cNvPr id="268" name="Google Shape;268;p23"/>
          <p:cNvSpPr/>
          <p:nvPr/>
        </p:nvSpPr>
        <p:spPr>
          <a:xfrm>
            <a:off x="6334125" y="2809875"/>
            <a:ext cx="2000250" cy="28575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1" i="0" lang="en" sz="1700" u="none" cap="none" strike="noStrike">
                <a:solidFill>
                  <a:srgbClr val="FFFFFF"/>
                </a:solidFill>
                <a:latin typeface="Poppins"/>
                <a:ea typeface="Poppins"/>
                <a:cs typeface="Poppins"/>
                <a:sym typeface="Poppins"/>
              </a:rPr>
              <a:t>Total Control</a:t>
            </a:r>
            <a:endParaRPr b="0" i="0" sz="800" u="none" cap="none" strike="noStrike">
              <a:solidFill>
                <a:srgbClr val="000000"/>
              </a:solidFill>
              <a:latin typeface="Arial"/>
              <a:ea typeface="Arial"/>
              <a:cs typeface="Arial"/>
              <a:sym typeface="Arial"/>
            </a:endParaRPr>
          </a:p>
        </p:txBody>
      </p:sp>
      <p:sp>
        <p:nvSpPr>
          <p:cNvPr id="269" name="Google Shape;269;p23"/>
          <p:cNvSpPr/>
          <p:nvPr/>
        </p:nvSpPr>
        <p:spPr>
          <a:xfrm>
            <a:off x="6334125" y="3143250"/>
            <a:ext cx="2000250" cy="952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None/>
            </a:pPr>
            <a:r>
              <a:rPr b="0" i="0" lang="en" sz="1200" u="none" cap="none" strike="noStrike">
                <a:solidFill>
                  <a:srgbClr val="FFFFFF"/>
                </a:solidFill>
                <a:latin typeface="Roboto"/>
                <a:ea typeface="Roboto"/>
                <a:cs typeface="Roboto"/>
                <a:sym typeface="Roboto"/>
              </a:rPr>
              <a:t>Empowering you with full visibility and command over your digital landscape, keeping you in the driver's seat.</a:t>
            </a:r>
            <a:endParaRPr b="0" i="0" sz="8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1A"/>
        </a:solidFill>
      </p:bgPr>
    </p:bg>
    <p:spTree>
      <p:nvGrpSpPr>
        <p:cNvPr id="277" name="Shape 277"/>
        <p:cNvGrpSpPr/>
        <p:nvPr/>
      </p:nvGrpSpPr>
      <p:grpSpPr>
        <a:xfrm>
          <a:off x="0" y="0"/>
          <a:ext cx="0" cy="0"/>
          <a:chOff x="0" y="0"/>
          <a:chExt cx="0" cy="0"/>
        </a:xfrm>
      </p:grpSpPr>
      <p:sp>
        <p:nvSpPr>
          <p:cNvPr id="278" name="Google Shape;278;p24"/>
          <p:cNvSpPr/>
          <p:nvPr/>
        </p:nvSpPr>
        <p:spPr>
          <a:xfrm>
            <a:off x="0" y="0"/>
            <a:ext cx="9144000" cy="5143500"/>
          </a:xfrm>
          <a:prstGeom prst="roundRect">
            <a:avLst>
              <a:gd fmla="val 0" name="adj"/>
            </a:avLst>
          </a:prstGeom>
          <a:solidFill>
            <a:srgbClr val="0A0A1A">
              <a:alpha val="85098"/>
            </a:srgbClr>
          </a:solidFill>
          <a:ln>
            <a:noFill/>
          </a:ln>
        </p:spPr>
        <p:txBody>
          <a:bodyPr anchorCtr="0" anchor="ctr" bIns="47625" lIns="47625" spcFirstLastPara="1" rIns="47625" wrap="square" tIns="47625">
            <a:noAutofit/>
          </a:bodyPr>
          <a:lstStyle/>
          <a:p>
            <a:pPr indent="0" lvl="0" marL="0" marR="0" rtl="0" algn="ctr">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p:txBody>
      </p:sp>
      <p:sp>
        <p:nvSpPr>
          <p:cNvPr id="279" name="Google Shape;279;p24"/>
          <p:cNvSpPr/>
          <p:nvPr/>
        </p:nvSpPr>
        <p:spPr>
          <a:xfrm>
            <a:off x="762000" y="1809750"/>
            <a:ext cx="7620000" cy="76200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None/>
            </a:pPr>
            <a:r>
              <a:rPr b="1" i="0" lang="en" sz="3600" u="none" cap="none" strike="noStrike">
                <a:solidFill>
                  <a:srgbClr val="00BFFF"/>
                </a:solidFill>
                <a:latin typeface="Noto Sans SC"/>
                <a:ea typeface="Noto Sans SC"/>
                <a:cs typeface="Noto Sans SC"/>
                <a:sym typeface="Noto Sans SC"/>
              </a:rPr>
              <a:t>Thank You</a:t>
            </a:r>
            <a:endParaRPr b="0" i="0" sz="800" u="none" cap="none" strike="noStrike">
              <a:solidFill>
                <a:srgbClr val="000000"/>
              </a:solidFill>
              <a:latin typeface="Arial"/>
              <a:ea typeface="Arial"/>
              <a:cs typeface="Arial"/>
              <a:sym typeface="Arial"/>
            </a:endParaRPr>
          </a:p>
        </p:txBody>
      </p:sp>
      <p:cxnSp>
        <p:nvCxnSpPr>
          <p:cNvPr id="280" name="Google Shape;280;p24"/>
          <p:cNvCxnSpPr/>
          <p:nvPr/>
        </p:nvCxnSpPr>
        <p:spPr>
          <a:xfrm rot="-34376">
            <a:off x="4095774" y="2662238"/>
            <a:ext cx="952500" cy="9525"/>
          </a:xfrm>
          <a:prstGeom prst="straightConnector1">
            <a:avLst/>
          </a:prstGeom>
          <a:solidFill>
            <a:srgbClr val="DEE0E3"/>
          </a:solidFill>
          <a:ln cap="flat" cmpd="sng" w="25400">
            <a:solidFill>
              <a:srgbClr val="00BFFF"/>
            </a:solidFill>
            <a:prstDash val="solid"/>
            <a:round/>
            <a:headEnd len="sm" w="sm" type="none"/>
            <a:tailEnd len="sm" w="sm" type="none"/>
          </a:ln>
        </p:spPr>
      </p:cxn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