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Poppins-bold.fntdata"/><Relationship Id="rId10" Type="http://schemas.openxmlformats.org/officeDocument/2006/relationships/slide" Target="slides/slide4.xml"/><Relationship Id="rId21" Type="http://schemas.openxmlformats.org/officeDocument/2006/relationships/font" Target="fonts/Poppins-regular.fntdata"/><Relationship Id="rId13" Type="http://schemas.openxmlformats.org/officeDocument/2006/relationships/slide" Target="slides/slide7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23" Type="http://schemas.openxmlformats.org/officeDocument/2006/relationships/font" Target="fonts/Poppi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ccc18a94_2_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" name="Google Shape;54;g3caccc18a94_2_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55" name="Google Shape;55;g3caccc18a94_2_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caccc18a94_2_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Good morning everyone,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Today, I’m here to introduce how we are building a next-generation low-code solution — designed for openness, flexibility, and long-term business sustainability.</a:t>
            </a:r>
            <a:endParaRPr sz="1400"/>
          </a:p>
        </p:txBody>
      </p:sp>
      <p:sp>
        <p:nvSpPr>
          <p:cNvPr id="57" name="Google Shape;57;g3caccc18a94_2_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" name="Google Shape;58;g3caccc18a94_2_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accc18a94_2_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3" name="Google Shape;73;g3caccc18a94_2_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74" name="Google Shape;74;g3caccc18a94_2_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caccc18a94_2_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Let's quickly go through the agenda. We'll start by looking at the challenges with current low-code platforms, then move to our vision for a better solution, dive into its core capabilities, highlight what makes it truly "next-gen," and conclude with its long-term value.</a:t>
            </a:r>
            <a:endParaRPr/>
          </a:p>
        </p:txBody>
      </p:sp>
      <p:sp>
        <p:nvSpPr>
          <p:cNvPr id="76" name="Google Shape;76;g3caccc18a94_2_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7" name="Google Shape;77;g3caccc18a94_2_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accc18a94_2_4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" name="Google Shape;97;g3caccc18a94_2_4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8" name="Google Shape;98;g3caccc18a94_2_4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caccc18a94_2_4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Over the past few years, low-code platforms such as Microsoft Power Platform have helped us digitize processes quickly. They brought speed. They reduced development effort. But they also introduced new challenges: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Increasing licensing costs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Vendor lock-in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Limited extensibility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Uncertain long-term scalability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So we asked ourselves a simple question: Can we build something better — something more open, more controllable, and more sustainable? That’s how our solution was born.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0" name="Google Shape;100;g3caccc18a94_2_4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g3caccc18a94_2_4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accc18a94_2_6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3" name="Google Shape;123;g3caccc18a94_2_6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124" name="Google Shape;124;g3caccc18a94_2_6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accc18a94_2_6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Our goal is not just automation. Our goal is to build a digital process foundation.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platform where: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Business teams move fast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Leadership gains transparency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And we retains full control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We call this the next generation of low-code. which focuses on control, scalability, and ownership.</a:t>
            </a:r>
            <a:endParaRPr sz="1400"/>
          </a:p>
        </p:txBody>
      </p:sp>
      <p:sp>
        <p:nvSpPr>
          <p:cNvPr id="126" name="Google Shape;126;g3caccc18a94_2_6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g3caccc18a94_2_6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accc18a94_2_9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g3caccc18a94_2_9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152" name="Google Shape;152;g3caccc18a94_2_9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caccc18a94_2_9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Core Capability, First, Visual Process Intelligence.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Every organization runs on processes. But in many companies, processes are invisible.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Approvals live in emails.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Responsibilities are unclear.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Bottlenecks are hard to detect.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Our solution makes every process: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Visible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Measurable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Traceable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Management can see where a request is stuck.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Process owners can measure cycle time.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Compliance risk is reduced because every step is documented.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Processes are no longer operational noise.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They become strategic assets.</a:t>
            </a:r>
            <a:endParaRPr sz="1400"/>
          </a:p>
        </p:txBody>
      </p:sp>
      <p:sp>
        <p:nvSpPr>
          <p:cNvPr id="154" name="Google Shape;154;g3caccc18a94_2_9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g3caccc18a94_2_9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accc18a94_2_1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g3caccc18a94_2_1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174" name="Google Shape;174;g3caccc18a94_2_1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caccc18a94_2_1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Second, Adaptive Form Experience.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Business environments change constantly.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New regulations. New products. New workflows.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Traditionally, changing a form means submitting a request to IT and waiting weeks.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 our platform, change is configuration — not development.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Business teams can: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Create forms quickly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Adjust fields dynamically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Launch new processes in days, not months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Speed becomes a competitive advantage.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organization becomes more responsive to change.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6" name="Google Shape;176;g3caccc18a94_2_1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g3caccc18a94_2_1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accc18a94_2_13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5" name="Google Shape;195;g3caccc18a94_2_13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196" name="Google Shape;196;g3caccc18a94_2_13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caccc18a94_2_13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Third, and perhaps most important — Open Data Foundation.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Data is the backbone of decision-making.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But too often, data is stored in spreadsheets.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Our solution provides: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Structured data models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Integration-ready architecture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Most importantly: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data belongs to the us — not to a vendor.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This ensures long-term flexibility, portability, and strategic control.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8" name="Google Shape;198;g3caccc18a94_2_13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9" name="Google Shape;199;g3caccc18a94_2_13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accc18a94_2_15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7" name="Google Shape;217;g3caccc18a94_2_15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218" name="Google Shape;218;g3caccc18a94_2_15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caccc18a94_2_15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So what makes this next-generation?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Traditional low-code platforms focus on development efficiency.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We focus on: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Architectural openness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•	Long-term sustainability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Instead of license-driven scaling costs,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we operate on an open, extensible stack.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Instead of black-box automation,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we deliver transparent processes.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0" name="Google Shape;220;g3caccc18a94_2_15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1" name="Google Shape;221;g3caccc18a94_2_15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accc18a94_2_19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g3caccc18a94_2_19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251" name="Google Shape;251;g3caccc18a94_2_19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caccc18a94_2_19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 delivering a foundation—one that is built to scale with your business, sustain your long-term goals, and keep you in control of your digital future.</a:t>
            </a:r>
            <a:endParaRPr sz="1400"/>
          </a:p>
        </p:txBody>
      </p:sp>
      <p:sp>
        <p:nvSpPr>
          <p:cNvPr id="253" name="Google Shape;253;g3caccc18a94_2_19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4" name="Google Shape;254;g3caccc18a94_2_19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accc18a94_2_2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2" name="Google Shape;272;g3caccc18a94_2_2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273" name="Google Shape;273;g3caccc18a94_2_2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caccc18a94_2_2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very much for your time.</a:t>
            </a:r>
            <a:endParaRPr/>
          </a:p>
        </p:txBody>
      </p:sp>
      <p:sp>
        <p:nvSpPr>
          <p:cNvPr id="275" name="Google Shape;275;g3caccc18a94_2_2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6" name="Google Shape;276;g3caccc18a94_2_2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Relationship Id="rId11" Type="http://schemas.openxmlformats.org/officeDocument/2006/relationships/image" Target="../media/image15.png"/><Relationship Id="rId10" Type="http://schemas.openxmlformats.org/officeDocument/2006/relationships/image" Target="../media/image32.png"/><Relationship Id="rId12" Type="http://schemas.openxmlformats.org/officeDocument/2006/relationships/image" Target="../media/image36.png"/><Relationship Id="rId9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rgbClr val="0A0A1A"/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1714500" y="-1428750"/>
            <a:ext cx="5715000" cy="2857500"/>
          </a:xfrm>
          <a:prstGeom prst="ellipse">
            <a:avLst/>
          </a:prstGeom>
          <a:solidFill>
            <a:srgbClr val="00BFFF">
              <a:alpha val="14901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762000" y="1714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Next-Gen Low-Code Solution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 rot="-34376">
            <a:off x="4095774" y="2424113"/>
            <a:ext cx="952500" cy="9525"/>
          </a:xfrm>
          <a:prstGeom prst="straightConnector1">
            <a:avLst/>
          </a:prstGeom>
          <a:solidFill>
            <a:srgbClr val="DEE0E3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762000" y="2571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Building an Open, Flexible, and Sustainable Digital Future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38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2724150" y="357187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Open Architecture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3238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4095750" y="357187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Flexible Design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1200" y="3238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5467350" y="357187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Sustainable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571500" y="476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71500" y="1238250"/>
            <a:ext cx="8001000" cy="609600"/>
          </a:xfrm>
          <a:prstGeom prst="roundRect">
            <a:avLst>
              <a:gd fmla="val 1562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3906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1181100" y="1314450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Challenge: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Limitations of Traditional Low-Code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71500" y="1943100"/>
            <a:ext cx="8001000" cy="609600"/>
          </a:xfrm>
          <a:prstGeom prst="roundRect">
            <a:avLst>
              <a:gd fmla="val 1562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95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1181100" y="2019300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Our Vision: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New Digital Foundation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71500" y="2647950"/>
            <a:ext cx="8001000" cy="609600"/>
          </a:xfrm>
          <a:prstGeom prst="roundRect">
            <a:avLst>
              <a:gd fmla="val 1562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003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181100" y="2724150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Core Capabilities: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Three Pillars of Innovation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71500" y="3352800"/>
            <a:ext cx="8001000" cy="609600"/>
          </a:xfrm>
          <a:prstGeom prst="roundRect">
            <a:avLst>
              <a:gd fmla="val 1562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05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1181100" y="3429000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Next-Gen Difference: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Openness vs. Lock-in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71500" y="4057650"/>
            <a:ext cx="8001000" cy="609600"/>
          </a:xfrm>
          <a:prstGeom prst="roundRect">
            <a:avLst>
              <a:gd fmla="val 1562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2100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1181100" y="4133850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Conclusion: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Foundation for the Future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The Challenge: Traditional Low-Code Limitations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71500" y="10953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While traditional low-code platforms brought speed, they introduced significant new challenges: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71500" y="1619250"/>
            <a:ext cx="3905250" cy="1428750"/>
          </a:xfrm>
          <a:prstGeom prst="roundRect">
            <a:avLst>
              <a:gd fmla="val 66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09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1143000" y="179070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Increasing Costs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62000" y="2143125"/>
            <a:ext cx="3524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Escalating licensing fees that become prohibitive at scale, eroding initial ROI over time.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667250" y="1619250"/>
            <a:ext cx="3905250" cy="1428750"/>
          </a:xfrm>
          <a:prstGeom prst="roundRect">
            <a:avLst>
              <a:gd fmla="val 66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1809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5238750" y="179070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Vendor Lock-in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857750" y="2143125"/>
            <a:ext cx="3524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Difficulty switching platforms or integrating deeply with existing enterprise systems.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571500" y="3238500"/>
            <a:ext cx="3905250" cy="1428750"/>
          </a:xfrm>
          <a:prstGeom prst="roundRect">
            <a:avLst>
              <a:gd fmla="val 66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29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>
            <a:off x="1143000" y="340995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Limited Extensibility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62000" y="3762375"/>
            <a:ext cx="3524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Hard to customize beyond the vendor's predefined scope, stifling unique business logic.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667250" y="3238500"/>
            <a:ext cx="3905250" cy="1428750"/>
          </a:xfrm>
          <a:prstGeom prst="roundRect">
            <a:avLst>
              <a:gd fmla="val 66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0" y="3429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5238750" y="340995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Uncertain Scalability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857750" y="3762375"/>
            <a:ext cx="3524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Doubts about long-term growth support, especially for high-performance, mission-critical applications.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571500" y="476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Our Vision: A Digital Process Foundation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71500" y="1047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 a strategic digital foundation, not just another automation tool.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71500" y="1619250"/>
            <a:ext cx="2476500" cy="2095500"/>
          </a:xfrm>
          <a:prstGeom prst="roundRect">
            <a:avLst>
              <a:gd fmla="val 454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09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762000" y="219075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Teams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 rot="-85925">
            <a:off x="762059" y="2519363"/>
            <a:ext cx="381000" cy="9525"/>
          </a:xfrm>
          <a:prstGeom prst="straightConnector1">
            <a:avLst/>
          </a:prstGeom>
          <a:solidFill>
            <a:srgbClr val="DEE0E3"/>
          </a:solidFill>
          <a:ln cap="flat" cmpd="sng" w="254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8"/>
          <p:cNvSpPr/>
          <p:nvPr/>
        </p:nvSpPr>
        <p:spPr>
          <a:xfrm>
            <a:off x="762000" y="2667000"/>
            <a:ext cx="209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Move fast with self-service tools, enabling rapid innovation and iteration.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333750" y="1619250"/>
            <a:ext cx="2476500" cy="2095500"/>
          </a:xfrm>
          <a:prstGeom prst="roundRect">
            <a:avLst>
              <a:gd fmla="val 454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1809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3524250" y="219075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Leadership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18"/>
          <p:cNvCxnSpPr/>
          <p:nvPr/>
        </p:nvCxnSpPr>
        <p:spPr>
          <a:xfrm rot="-85925">
            <a:off x="3524309" y="2519363"/>
            <a:ext cx="381000" cy="9525"/>
          </a:xfrm>
          <a:prstGeom prst="straightConnector1">
            <a:avLst/>
          </a:prstGeom>
          <a:solidFill>
            <a:srgbClr val="DEE0E3"/>
          </a:solidFill>
          <a:ln cap="flat" cmpd="sng" w="254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8"/>
          <p:cNvSpPr/>
          <p:nvPr/>
        </p:nvSpPr>
        <p:spPr>
          <a:xfrm>
            <a:off x="3524250" y="2667000"/>
            <a:ext cx="209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Gain full transparency into operations with complete visibility across the enterprise.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096000" y="1619250"/>
            <a:ext cx="2476500" cy="2095500"/>
          </a:xfrm>
          <a:prstGeom prst="roundRect">
            <a:avLst>
              <a:gd fmla="val 4545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9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/>
          <p:nvPr/>
        </p:nvSpPr>
        <p:spPr>
          <a:xfrm>
            <a:off x="6286500" y="219075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Enterprise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 rot="-85925">
            <a:off x="6286559" y="2519363"/>
            <a:ext cx="381000" cy="9525"/>
          </a:xfrm>
          <a:prstGeom prst="straightConnector1">
            <a:avLst/>
          </a:prstGeom>
          <a:solidFill>
            <a:srgbClr val="DEE0E3"/>
          </a:solidFill>
          <a:ln cap="flat" cmpd="sng" w="254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8"/>
          <p:cNvSpPr/>
          <p:nvPr/>
        </p:nvSpPr>
        <p:spPr>
          <a:xfrm>
            <a:off x="6286500" y="2667000"/>
            <a:ext cx="209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Retains complete control and ownership over its digital assets and processes.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71500" y="3905250"/>
            <a:ext cx="8001000" cy="762000"/>
          </a:xfrm>
          <a:prstGeom prst="roundRect">
            <a:avLst>
              <a:gd fmla="val 12500" name="adj"/>
            </a:avLst>
          </a:prstGeom>
          <a:solidFill>
            <a:srgbClr val="00BFFF">
              <a:alpha val="10196"/>
            </a:srgbClr>
          </a:solidFill>
          <a:ln cap="flat" cmpd="sng" w="12700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1338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1143000" y="4048125"/>
            <a:ext cx="723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 Generation Low-Code:</a:t>
            </a: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Focused on</a:t>
            </a:r>
            <a:r>
              <a:rPr b="1" i="0" lang="en" sz="1200" u="none" cap="none" strike="noStrike">
                <a:solidFill>
                  <a:srgbClr val="00BFFF"/>
                </a:solidFill>
                <a:latin typeface="Roboto"/>
                <a:ea typeface="Roboto"/>
                <a:cs typeface="Roboto"/>
                <a:sym typeface="Roboto"/>
              </a:rPr>
              <a:t>Control, Scalability, and Ownership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571500" y="476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Core Capability 1: Visual Process Intelligence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71500" y="1047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Turning invisible processes into strategic assets by making them: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71500" y="171450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05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762000" y="2428875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Visible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62000" y="2809875"/>
            <a:ext cx="209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See exactly where requests are stuck in real-time, eliminating blind spots in your workflow.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333750" y="171450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1905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3524250" y="2428875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Measurable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524250" y="2809875"/>
            <a:ext cx="209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Accurately track cycle times and identify bottlenecks to optimize performance and efficiency.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096000" y="171450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05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6286500" y="2428875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Traceable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286500" y="2809875"/>
            <a:ext cx="209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 every step for full compliance and auditability, ensuring transparency at all levels.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571500" y="476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Core Capability 2: Adaptive Form Experience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1047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Empowering business teams to respond to change in days, not months.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1500" y="171450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809625" y="25717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Rapid Creation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09625" y="295275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users can build and design forms independently without relying on IT support.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333750" y="171450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75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3571875" y="25717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Dynamic Adjustment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571875" y="295275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Easily modify fields, logic, and layout on the fly as business needs evolve.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096000" y="171450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6334125" y="25717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Faster Time-to-Value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334125" y="295275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Launch new workflows in days instead of weeks, accelerating business outcomes.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571500" y="476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Core Capability 3: Open Data Foundation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1047750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Ensuring data is a strategic asset, not a liability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161925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809625" y="24288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Structured Models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809625" y="276225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Organized data architecture that supports advanced analytics and enables better, data-driven decision-making.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333750" y="161925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75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3571875" y="24288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Integration-Ready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571875" y="276225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Seamlessly connects with your existing systems and workflows, eliminating data silos and friction.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096000" y="1619250"/>
            <a:ext cx="2476500" cy="2667000"/>
          </a:xfrm>
          <a:prstGeom prst="roundRect">
            <a:avLst>
              <a:gd fmla="val 384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6334125" y="24288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Owner-Oriented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334125" y="276225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 data belongs to you, not the vendor. This ensures long-term flexibility and strategic control.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571500" y="476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The Next-Gen Difference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1500" y="1238250"/>
            <a:ext cx="3810000" cy="3238500"/>
          </a:xfrm>
          <a:prstGeom prst="roundRect">
            <a:avLst>
              <a:gd fmla="val 2941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287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1047750" y="140970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Traditional Low-Code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22"/>
          <p:cNvCxnSpPr/>
          <p:nvPr/>
        </p:nvCxnSpPr>
        <p:spPr>
          <a:xfrm rot="-9549">
            <a:off x="762007" y="1757362"/>
            <a:ext cx="3429000" cy="9525"/>
          </a:xfrm>
          <a:prstGeom prst="straightConnector1">
            <a:avLst/>
          </a:prstGeom>
          <a:solidFill>
            <a:srgbClr val="DEE0E3"/>
          </a:solidFill>
          <a:ln cap="flat" cmpd="sng" w="12700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526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/>
        </p:nvSpPr>
        <p:spPr>
          <a:xfrm>
            <a:off x="1047750" y="19240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Focus on Development Efficiency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81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/>
          <p:nvPr/>
        </p:nvSpPr>
        <p:spPr>
          <a:xfrm>
            <a:off x="1047750" y="235267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License-Driven Scaling Costs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8098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/>
          <p:nvPr/>
        </p:nvSpPr>
        <p:spPr>
          <a:xfrm>
            <a:off x="1047750" y="27813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Black-Box Automation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238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1047750" y="32099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Vendor-Owned Data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762500" y="1238250"/>
            <a:ext cx="3810000" cy="3238500"/>
          </a:xfrm>
          <a:prstGeom prst="roundRect">
            <a:avLst>
              <a:gd fmla="val 2941" name="adj"/>
            </a:avLst>
          </a:prstGeom>
          <a:solidFill>
            <a:srgbClr val="00BFFF">
              <a:alpha val="10196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3000" y="14287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5238750" y="140970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BFFF"/>
                </a:solidFill>
                <a:latin typeface="Roboto"/>
                <a:ea typeface="Roboto"/>
                <a:cs typeface="Roboto"/>
                <a:sym typeface="Roboto"/>
              </a:rPr>
              <a:t>Our Next-Gen Solution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 rot="-9549">
            <a:off x="4953007" y="1757362"/>
            <a:ext cx="3429000" cy="9525"/>
          </a:xfrm>
          <a:prstGeom prst="straightConnector1">
            <a:avLst/>
          </a:prstGeom>
          <a:solidFill>
            <a:srgbClr val="DEE0E3"/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0" name="Google Shape;24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53000" y="19526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/>
          <p:nvPr/>
        </p:nvSpPr>
        <p:spPr>
          <a:xfrm>
            <a:off x="5238750" y="19240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Focus on</a:t>
            </a:r>
            <a:r>
              <a:rPr b="1" i="0" lang="en" sz="1200" u="none" cap="none" strike="noStrike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Architectural Openness</a:t>
            </a: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&amp; Long-Term Sustainability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53000" y="2381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/>
          <p:nvPr/>
        </p:nvSpPr>
        <p:spPr>
          <a:xfrm>
            <a:off x="5238750" y="235267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Open, Extensible Tech Stack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53000" y="28098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5238750" y="27813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Transparent, Governable Processes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53000" y="3238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/>
          <p:nvPr/>
        </p:nvSpPr>
        <p:spPr>
          <a:xfrm>
            <a:off x="5238750" y="32099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Customer-Owned Data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Conclusion: A Foundation for the Future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71500" y="1333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are not just delivering a tool or a solution. We are building a future-ready ecosystem.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71500" y="2000250"/>
            <a:ext cx="2476500" cy="2286000"/>
          </a:xfrm>
          <a:prstGeom prst="roundRect">
            <a:avLst>
              <a:gd fmla="val 41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238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809625" y="28098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Scalable Growth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09625" y="3143250"/>
            <a:ext cx="2000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system that grows with your business needs, ensuring flexibility and adaptability at every stage of expansion.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333750" y="2000250"/>
            <a:ext cx="2476500" cy="2286000"/>
          </a:xfrm>
          <a:prstGeom prst="roundRect">
            <a:avLst>
              <a:gd fmla="val 41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75" y="2238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/>
          <p:nvPr/>
        </p:nvSpPr>
        <p:spPr>
          <a:xfrm>
            <a:off x="3571875" y="28098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Sustainable Operations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3571875" y="3143250"/>
            <a:ext cx="2000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 to last, supporting your long-term strategic goals with a resilient and efficient digital infrastructure.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096000" y="2000250"/>
            <a:ext cx="2476500" cy="2286000"/>
          </a:xfrm>
          <a:prstGeom prst="roundRect">
            <a:avLst>
              <a:gd fmla="val 4166" name="adj"/>
            </a:avLst>
          </a:prstGeom>
          <a:solidFill>
            <a:srgbClr val="FFFFFF">
              <a:alpha val="5098"/>
            </a:srgbClr>
          </a:solidFill>
          <a:ln cap="flat" cmpd="sng" w="12700">
            <a:solidFill>
              <a:srgbClr val="00B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/>
          <p:nvPr/>
        </p:nvSpPr>
        <p:spPr>
          <a:xfrm>
            <a:off x="6334125" y="28098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Control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334125" y="3143250"/>
            <a:ext cx="2000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Empowering you with full visibility and command over your digital landscape, keeping you in the driver's seat.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rgbClr val="0A0A1A">
              <a:alpha val="85098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762000" y="18097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4"/>
          <p:cNvCxnSpPr/>
          <p:nvPr/>
        </p:nvCxnSpPr>
        <p:spPr>
          <a:xfrm rot="-34376">
            <a:off x="4095774" y="2662238"/>
            <a:ext cx="952500" cy="9525"/>
          </a:xfrm>
          <a:prstGeom prst="straightConnector1">
            <a:avLst/>
          </a:prstGeom>
          <a:solidFill>
            <a:srgbClr val="DEE0E3"/>
          </a:solidFill>
          <a:ln cap="flat" cmpd="sng" w="254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